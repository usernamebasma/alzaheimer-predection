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91" r:id="rId2"/>
    <p:sldId id="256" r:id="rId3"/>
    <p:sldId id="257" r:id="rId4"/>
    <p:sldId id="296" r:id="rId5"/>
    <p:sldId id="258" r:id="rId6"/>
    <p:sldId id="275" r:id="rId7"/>
    <p:sldId id="280" r:id="rId8"/>
    <p:sldId id="281" r:id="rId9"/>
    <p:sldId id="278" r:id="rId10"/>
    <p:sldId id="297" r:id="rId11"/>
    <p:sldId id="292" r:id="rId12"/>
    <p:sldId id="295" r:id="rId13"/>
    <p:sldId id="294" r:id="rId14"/>
    <p:sldId id="293" r:id="rId15"/>
    <p:sldId id="289" r:id="rId16"/>
    <p:sldId id="259" r:id="rId17"/>
    <p:sldId id="267" r:id="rId18"/>
    <p:sldId id="279" r:id="rId19"/>
    <p:sldId id="260" r:id="rId20"/>
    <p:sldId id="268" r:id="rId21"/>
    <p:sldId id="276" r:id="rId22"/>
    <p:sldId id="277" r:id="rId23"/>
    <p:sldId id="261" r:id="rId24"/>
    <p:sldId id="284" r:id="rId25"/>
    <p:sldId id="262" r:id="rId26"/>
    <p:sldId id="272" r:id="rId27"/>
    <p:sldId id="303" r:id="rId28"/>
    <p:sldId id="283" r:id="rId29"/>
    <p:sldId id="304" r:id="rId30"/>
    <p:sldId id="282" r:id="rId31"/>
    <p:sldId id="290" r:id="rId32"/>
    <p:sldId id="287" r:id="rId33"/>
    <p:sldId id="298" r:id="rId34"/>
    <p:sldId id="288" r:id="rId35"/>
    <p:sldId id="305" r:id="rId36"/>
    <p:sldId id="299" r:id="rId37"/>
    <p:sldId id="286" r:id="rId38"/>
    <p:sldId id="271" r:id="rId39"/>
    <p:sldId id="302" r:id="rId40"/>
    <p:sldId id="274"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D615E465-26AA-4D77-B5EE-B86B6C545FFF}">
          <p14:sldIdLst>
            <p14:sldId id="291"/>
            <p14:sldId id="256"/>
            <p14:sldId id="257"/>
            <p14:sldId id="296"/>
            <p14:sldId id="258"/>
            <p14:sldId id="275"/>
            <p14:sldId id="280"/>
            <p14:sldId id="281"/>
            <p14:sldId id="278"/>
            <p14:sldId id="297"/>
            <p14:sldId id="292"/>
            <p14:sldId id="295"/>
            <p14:sldId id="294"/>
            <p14:sldId id="293"/>
            <p14:sldId id="289"/>
            <p14:sldId id="259"/>
            <p14:sldId id="267"/>
            <p14:sldId id="279"/>
            <p14:sldId id="260"/>
            <p14:sldId id="268"/>
            <p14:sldId id="276"/>
            <p14:sldId id="277"/>
            <p14:sldId id="261"/>
            <p14:sldId id="284"/>
            <p14:sldId id="262"/>
            <p14:sldId id="272"/>
            <p14:sldId id="303"/>
            <p14:sldId id="283"/>
            <p14:sldId id="304"/>
            <p14:sldId id="282"/>
            <p14:sldId id="290"/>
            <p14:sldId id="287"/>
            <p14:sldId id="298"/>
            <p14:sldId id="288"/>
            <p14:sldId id="305"/>
            <p14:sldId id="299"/>
            <p14:sldId id="286"/>
            <p14:sldId id="271"/>
            <p14:sldId id="302"/>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180" autoAdjust="0"/>
    <p:restoredTop sz="94660"/>
  </p:normalViewPr>
  <p:slideViewPr>
    <p:cSldViewPr snapToGrid="0">
      <p:cViewPr varScale="1">
        <p:scale>
          <a:sx n="72" d="100"/>
          <a:sy n="72"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E4C561-3DE8-49CE-9345-FB22B53701C0}" type="datetimeFigureOut">
              <a:rPr lang="fr-FR" smtClean="0"/>
              <a:t>19/11/2023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E080FD7-3763-4CDE-A80F-F138726EEEA2}" type="slidenum">
              <a:rPr lang="fr-FR" smtClean="0"/>
              <a:t>‹#›</a:t>
            </a:fld>
            <a:endParaRPr lang="fr-FR"/>
          </a:p>
        </p:txBody>
      </p:sp>
    </p:spTree>
    <p:extLst>
      <p:ext uri="{BB962C8B-B14F-4D97-AF65-F5344CB8AC3E}">
        <p14:creationId xmlns:p14="http://schemas.microsoft.com/office/powerpoint/2010/main" val="2030003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E4C561-3DE8-49CE-9345-FB22B53701C0}" type="datetimeFigureOut">
              <a:rPr lang="fr-FR" smtClean="0"/>
              <a:t>19/11/2023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E080FD7-3763-4CDE-A80F-F138726EEEA2}" type="slidenum">
              <a:rPr lang="fr-FR" smtClean="0"/>
              <a:t>‹#›</a:t>
            </a:fld>
            <a:endParaRPr lang="fr-FR"/>
          </a:p>
        </p:txBody>
      </p:sp>
    </p:spTree>
    <p:extLst>
      <p:ext uri="{BB962C8B-B14F-4D97-AF65-F5344CB8AC3E}">
        <p14:creationId xmlns:p14="http://schemas.microsoft.com/office/powerpoint/2010/main" val="4201642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E4C561-3DE8-49CE-9345-FB22B53701C0}" type="datetimeFigureOut">
              <a:rPr lang="fr-FR" smtClean="0"/>
              <a:t>19/11/2023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E080FD7-3763-4CDE-A80F-F138726EEEA2}" type="slidenum">
              <a:rPr lang="fr-FR" smtClean="0"/>
              <a:t>‹#›</a:t>
            </a:fld>
            <a:endParaRPr lang="fr-FR"/>
          </a:p>
        </p:txBody>
      </p:sp>
    </p:spTree>
    <p:extLst>
      <p:ext uri="{BB962C8B-B14F-4D97-AF65-F5344CB8AC3E}">
        <p14:creationId xmlns:p14="http://schemas.microsoft.com/office/powerpoint/2010/main" val="4258332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E4C561-3DE8-49CE-9345-FB22B53701C0}" type="datetimeFigureOut">
              <a:rPr lang="fr-FR" smtClean="0"/>
              <a:t>19/11/2023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2E080FD7-3763-4CDE-A80F-F138726EEEA2}" type="slidenum">
              <a:rPr lang="fr-FR" smtClean="0"/>
              <a:t>‹#›</a:t>
            </a:fld>
            <a:endParaRPr lang="fr-FR"/>
          </a:p>
        </p:txBody>
      </p:sp>
    </p:spTree>
    <p:extLst>
      <p:ext uri="{BB962C8B-B14F-4D97-AF65-F5344CB8AC3E}">
        <p14:creationId xmlns:p14="http://schemas.microsoft.com/office/powerpoint/2010/main" val="3591358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E4C561-3DE8-49CE-9345-FB22B53701C0}" type="datetimeFigureOut">
              <a:rPr lang="fr-FR" smtClean="0"/>
              <a:t>19/11/2023</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2E080FD7-3763-4CDE-A80F-F138726EEEA2}" type="slidenum">
              <a:rPr lang="fr-FR" smtClean="0"/>
              <a:t>‹#›</a:t>
            </a:fld>
            <a:endParaRPr lang="fr-FR"/>
          </a:p>
        </p:txBody>
      </p:sp>
    </p:spTree>
    <p:extLst>
      <p:ext uri="{BB962C8B-B14F-4D97-AF65-F5344CB8AC3E}">
        <p14:creationId xmlns:p14="http://schemas.microsoft.com/office/powerpoint/2010/main" val="3775644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FE4C561-3DE8-49CE-9345-FB22B53701C0}" type="datetimeFigureOut">
              <a:rPr lang="fr-FR" smtClean="0"/>
              <a:t>19/11/2023</a:t>
            </a:fld>
            <a:endParaRPr lang="fr-FR"/>
          </a:p>
        </p:txBody>
      </p:sp>
      <p:sp>
        <p:nvSpPr>
          <p:cNvPr id="5" name="Footer Placeholder 3"/>
          <p:cNvSpPr>
            <a:spLocks noGrp="1"/>
          </p:cNvSpPr>
          <p:nvPr>
            <p:ph type="ftr" sz="quarter" idx="11"/>
          </p:nvPr>
        </p:nvSpPr>
        <p:spPr/>
        <p:txBody>
          <a:bodyPr/>
          <a:lstStyle/>
          <a:p>
            <a:endParaRPr lang="fr-FR"/>
          </a:p>
        </p:txBody>
      </p:sp>
      <p:sp>
        <p:nvSpPr>
          <p:cNvPr id="6" name="Slide Number Placeholder 4"/>
          <p:cNvSpPr>
            <a:spLocks noGrp="1"/>
          </p:cNvSpPr>
          <p:nvPr>
            <p:ph type="sldNum" sz="quarter" idx="12"/>
          </p:nvPr>
        </p:nvSpPr>
        <p:spPr/>
        <p:txBody>
          <a:bodyPr/>
          <a:lstStyle/>
          <a:p>
            <a:fld id="{2E080FD7-3763-4CDE-A80F-F138726EEEA2}" type="slidenum">
              <a:rPr lang="fr-FR" smtClean="0"/>
              <a:t>‹#›</a:t>
            </a:fld>
            <a:endParaRPr lang="fr-FR"/>
          </a:p>
        </p:txBody>
      </p:sp>
    </p:spTree>
    <p:extLst>
      <p:ext uri="{BB962C8B-B14F-4D97-AF65-F5344CB8AC3E}">
        <p14:creationId xmlns:p14="http://schemas.microsoft.com/office/powerpoint/2010/main" val="3440883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FE4C561-3DE8-49CE-9345-FB22B53701C0}" type="datetimeFigureOut">
              <a:rPr lang="fr-FR" smtClean="0"/>
              <a:t>19/11/2023</a:t>
            </a:fld>
            <a:endParaRPr lang="fr-FR"/>
          </a:p>
        </p:txBody>
      </p:sp>
      <p:sp>
        <p:nvSpPr>
          <p:cNvPr id="5" name="Footer Placeholder 2"/>
          <p:cNvSpPr>
            <a:spLocks noGrp="1"/>
          </p:cNvSpPr>
          <p:nvPr>
            <p:ph type="ftr" sz="quarter" idx="11"/>
          </p:nvPr>
        </p:nvSpPr>
        <p:spPr/>
        <p:txBody>
          <a:bodyPr/>
          <a:lstStyle/>
          <a:p>
            <a:endParaRPr lang="fr-FR"/>
          </a:p>
        </p:txBody>
      </p:sp>
      <p:sp>
        <p:nvSpPr>
          <p:cNvPr id="6" name="Slide Number Placeholder 3"/>
          <p:cNvSpPr>
            <a:spLocks noGrp="1"/>
          </p:cNvSpPr>
          <p:nvPr>
            <p:ph type="sldNum" sz="quarter" idx="12"/>
          </p:nvPr>
        </p:nvSpPr>
        <p:spPr/>
        <p:txBody>
          <a:bodyPr/>
          <a:lstStyle/>
          <a:p>
            <a:fld id="{2E080FD7-3763-4CDE-A80F-F138726EEEA2}" type="slidenum">
              <a:rPr lang="fr-FR" smtClean="0"/>
              <a:t>‹#›</a:t>
            </a:fld>
            <a:endParaRPr lang="fr-FR"/>
          </a:p>
        </p:txBody>
      </p:sp>
    </p:spTree>
    <p:extLst>
      <p:ext uri="{BB962C8B-B14F-4D97-AF65-F5344CB8AC3E}">
        <p14:creationId xmlns:p14="http://schemas.microsoft.com/office/powerpoint/2010/main" val="214485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7FE4C561-3DE8-49CE-9345-FB22B53701C0}" type="datetimeFigureOut">
              <a:rPr lang="fr-FR" smtClean="0"/>
              <a:t>19/11/2023</a:t>
            </a:fld>
            <a:endParaRPr lang="fr-FR"/>
          </a:p>
        </p:txBody>
      </p:sp>
      <p:sp>
        <p:nvSpPr>
          <p:cNvPr id="5" name="Footer Placeholder 5"/>
          <p:cNvSpPr>
            <a:spLocks noGrp="1"/>
          </p:cNvSpPr>
          <p:nvPr>
            <p:ph type="ftr" sz="quarter" idx="11"/>
          </p:nvPr>
        </p:nvSpPr>
        <p:spPr/>
        <p:txBody>
          <a:bodyPr/>
          <a:lstStyle/>
          <a:p>
            <a:endParaRPr lang="fr-FR"/>
          </a:p>
        </p:txBody>
      </p:sp>
      <p:sp>
        <p:nvSpPr>
          <p:cNvPr id="6" name="Slide Number Placeholder 6"/>
          <p:cNvSpPr>
            <a:spLocks noGrp="1"/>
          </p:cNvSpPr>
          <p:nvPr>
            <p:ph type="sldNum" sz="quarter" idx="12"/>
          </p:nvPr>
        </p:nvSpPr>
        <p:spPr/>
        <p:txBody>
          <a:bodyPr/>
          <a:lstStyle/>
          <a:p>
            <a:fld id="{2E080FD7-3763-4CDE-A80F-F138726EEEA2}" type="slidenum">
              <a:rPr lang="fr-FR" smtClean="0"/>
              <a:t>‹#›</a:t>
            </a:fld>
            <a:endParaRPr lang="fr-FR"/>
          </a:p>
        </p:txBody>
      </p:sp>
    </p:spTree>
    <p:extLst>
      <p:ext uri="{BB962C8B-B14F-4D97-AF65-F5344CB8AC3E}">
        <p14:creationId xmlns:p14="http://schemas.microsoft.com/office/powerpoint/2010/main" val="683603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FE4C561-3DE8-49CE-9345-FB22B53701C0}" type="datetimeFigureOut">
              <a:rPr lang="fr-FR" smtClean="0"/>
              <a:t>19/11/2023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2E080FD7-3763-4CDE-A80F-F138726EEEA2}" type="slidenum">
              <a:rPr lang="fr-FR" smtClean="0"/>
              <a:t>‹#›</a:t>
            </a:fld>
            <a:endParaRPr lang="fr-FR"/>
          </a:p>
        </p:txBody>
      </p:sp>
    </p:spTree>
    <p:extLst>
      <p:ext uri="{BB962C8B-B14F-4D97-AF65-F5344CB8AC3E}">
        <p14:creationId xmlns:p14="http://schemas.microsoft.com/office/powerpoint/2010/main" val="2074271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FE4C561-3DE8-49CE-9345-FB22B53701C0}" type="datetimeFigureOut">
              <a:rPr lang="fr-FR" smtClean="0"/>
              <a:t>19/11/2023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2E080FD7-3763-4CDE-A80F-F138726EEEA2}" type="slidenum">
              <a:rPr lang="fr-FR" smtClean="0"/>
              <a:t>‹#›</a:t>
            </a:fld>
            <a:endParaRPr lang="fr-FR"/>
          </a:p>
        </p:txBody>
      </p:sp>
    </p:spTree>
    <p:extLst>
      <p:ext uri="{BB962C8B-B14F-4D97-AF65-F5344CB8AC3E}">
        <p14:creationId xmlns:p14="http://schemas.microsoft.com/office/powerpoint/2010/main" val="3237930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7FE4C561-3DE8-49CE-9345-FB22B53701C0}" type="datetimeFigureOut">
              <a:rPr lang="fr-FR" smtClean="0"/>
              <a:t>19/11/2023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E080FD7-3763-4CDE-A80F-F138726EEEA2}" type="slidenum">
              <a:rPr lang="fr-FR" smtClean="0"/>
              <a:t>‹#›</a:t>
            </a:fld>
            <a:endParaRPr lang="fr-FR"/>
          </a:p>
        </p:txBody>
      </p:sp>
    </p:spTree>
    <p:extLst>
      <p:ext uri="{BB962C8B-B14F-4D97-AF65-F5344CB8AC3E}">
        <p14:creationId xmlns:p14="http://schemas.microsoft.com/office/powerpoint/2010/main" val="1801829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7FE4C561-3DE8-49CE-9345-FB22B53701C0}" type="datetimeFigureOut">
              <a:rPr lang="fr-FR" smtClean="0"/>
              <a:t>19/11/2023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E080FD7-3763-4CDE-A80F-F138726EEEA2}" type="slidenum">
              <a:rPr lang="fr-FR" smtClean="0"/>
              <a:t>‹#›</a:t>
            </a:fld>
            <a:endParaRPr lang="fr-FR"/>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3183555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E4C561-3DE8-49CE-9345-FB22B53701C0}" type="datetimeFigureOut">
              <a:rPr lang="fr-FR" smtClean="0"/>
              <a:t>19/11/2023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E080FD7-3763-4CDE-A80F-F138726EEEA2}" type="slidenum">
              <a:rPr lang="fr-FR" smtClean="0"/>
              <a:t>‹#›</a:t>
            </a:fld>
            <a:endParaRPr lang="fr-FR"/>
          </a:p>
        </p:txBody>
      </p:sp>
    </p:spTree>
    <p:extLst>
      <p:ext uri="{BB962C8B-B14F-4D97-AF65-F5344CB8AC3E}">
        <p14:creationId xmlns:p14="http://schemas.microsoft.com/office/powerpoint/2010/main" val="2684083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FE4C561-3DE8-49CE-9345-FB22B53701C0}" type="datetimeFigureOut">
              <a:rPr lang="fr-FR" smtClean="0"/>
              <a:t>19/11/2023</a:t>
            </a:fld>
            <a:endParaRPr lang="fr-FR"/>
          </a:p>
        </p:txBody>
      </p:sp>
      <p:sp>
        <p:nvSpPr>
          <p:cNvPr id="4"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E080FD7-3763-4CDE-A80F-F138726EEEA2}" type="slidenum">
              <a:rPr lang="fr-FR" smtClean="0"/>
              <a:t>‹#›</a:t>
            </a:fld>
            <a:endParaRPr lang="fr-FR"/>
          </a:p>
        </p:txBody>
      </p:sp>
    </p:spTree>
    <p:extLst>
      <p:ext uri="{BB962C8B-B14F-4D97-AF65-F5344CB8AC3E}">
        <p14:creationId xmlns:p14="http://schemas.microsoft.com/office/powerpoint/2010/main" val="18501739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FE4C561-3DE8-49CE-9345-FB22B53701C0}" type="datetimeFigureOut">
              <a:rPr lang="fr-FR" smtClean="0"/>
              <a:t>19/11/2023</a:t>
            </a:fld>
            <a:endParaRPr lang="fr-FR"/>
          </a:p>
        </p:txBody>
      </p:sp>
      <p:sp>
        <p:nvSpPr>
          <p:cNvPr id="4"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E080FD7-3763-4CDE-A80F-F138726EEEA2}" type="slidenum">
              <a:rPr lang="fr-FR" smtClean="0"/>
              <a:t>‹#›</a:t>
            </a:fld>
            <a:endParaRPr lang="fr-FR"/>
          </a:p>
        </p:txBody>
      </p:sp>
    </p:spTree>
    <p:extLst>
      <p:ext uri="{BB962C8B-B14F-4D97-AF65-F5344CB8AC3E}">
        <p14:creationId xmlns:p14="http://schemas.microsoft.com/office/powerpoint/2010/main" val="41694413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E4C561-3DE8-49CE-9345-FB22B53701C0}" type="datetimeFigureOut">
              <a:rPr lang="fr-FR" smtClean="0"/>
              <a:t>19/11/2023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E080FD7-3763-4CDE-A80F-F138726EEEA2}" type="slidenum">
              <a:rPr lang="fr-FR" smtClean="0"/>
              <a:t>‹#›</a:t>
            </a:fld>
            <a:endParaRPr lang="fr-FR"/>
          </a:p>
        </p:txBody>
      </p:sp>
    </p:spTree>
    <p:extLst>
      <p:ext uri="{BB962C8B-B14F-4D97-AF65-F5344CB8AC3E}">
        <p14:creationId xmlns:p14="http://schemas.microsoft.com/office/powerpoint/2010/main" val="11714919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E4C561-3DE8-49CE-9345-FB22B53701C0}" type="datetimeFigureOut">
              <a:rPr lang="fr-FR" smtClean="0"/>
              <a:t>19/11/2023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E080FD7-3763-4CDE-A80F-F138726EEEA2}" type="slidenum">
              <a:rPr lang="fr-FR" smtClean="0"/>
              <a:t>‹#›</a:t>
            </a:fld>
            <a:endParaRPr lang="fr-FR"/>
          </a:p>
        </p:txBody>
      </p:sp>
    </p:spTree>
    <p:extLst>
      <p:ext uri="{BB962C8B-B14F-4D97-AF65-F5344CB8AC3E}">
        <p14:creationId xmlns:p14="http://schemas.microsoft.com/office/powerpoint/2010/main" val="47334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FE4C561-3DE8-49CE-9345-FB22B53701C0}" type="datetimeFigureOut">
              <a:rPr lang="fr-FR" smtClean="0"/>
              <a:t>19/11/2023</a:t>
            </a:fld>
            <a:endParaRPr lang="fr-FR"/>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fr-FR"/>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E080FD7-3763-4CDE-A80F-F138726EEEA2}" type="slidenum">
              <a:rPr lang="fr-FR" smtClean="0"/>
              <a:t>‹#›</a:t>
            </a:fld>
            <a:endParaRPr lang="fr-FR"/>
          </a:p>
        </p:txBody>
      </p:sp>
    </p:spTree>
    <p:extLst>
      <p:ext uri="{BB962C8B-B14F-4D97-AF65-F5344CB8AC3E}">
        <p14:creationId xmlns:p14="http://schemas.microsoft.com/office/powerpoint/2010/main" val="963202542"/>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hyperlink" Target="https://www.techscience.com/cmc/v76n3/54339/html"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4B11C-8F76-4445-830C-D1AE55C92397}"/>
              </a:ext>
            </a:extLst>
          </p:cNvPr>
          <p:cNvSpPr>
            <a:spLocks noGrp="1"/>
          </p:cNvSpPr>
          <p:nvPr>
            <p:ph type="title"/>
          </p:nvPr>
        </p:nvSpPr>
        <p:spPr>
          <a:xfrm>
            <a:off x="362178" y="2389760"/>
            <a:ext cx="6898909" cy="954157"/>
          </a:xfrm>
        </p:spPr>
        <p:txBody>
          <a:bodyPr/>
          <a:lstStyle/>
          <a:p>
            <a:pPr algn="ctr"/>
            <a:r>
              <a:rPr lang="fr-FR" altLang="fr-FR" sz="2400" b="1" dirty="0">
                <a:solidFill>
                  <a:schemeClr val="tx1"/>
                </a:solidFill>
              </a:rPr>
              <a:t>Sujet : Détection des différents stades de la maladie d’Alzheimer CNN et SVM</a:t>
            </a:r>
            <a:br>
              <a:rPr lang="fr-FR" altLang="fr-FR" sz="3600" dirty="0">
                <a:solidFill>
                  <a:schemeClr val="tx1"/>
                </a:solidFill>
                <a:latin typeface="Arial" panose="020B0604020202020204" pitchFamily="34" charset="0"/>
              </a:rPr>
            </a:br>
            <a:endParaRPr lang="fr-FR" dirty="0"/>
          </a:p>
        </p:txBody>
      </p:sp>
      <p:sp>
        <p:nvSpPr>
          <p:cNvPr id="3" name="Content Placeholder 2">
            <a:extLst>
              <a:ext uri="{FF2B5EF4-FFF2-40B4-BE49-F238E27FC236}">
                <a16:creationId xmlns:a16="http://schemas.microsoft.com/office/drawing/2014/main" id="{E5355A0B-FF25-4895-8230-9ECED9D1E7C5}"/>
              </a:ext>
            </a:extLst>
          </p:cNvPr>
          <p:cNvSpPr>
            <a:spLocks noGrp="1"/>
          </p:cNvSpPr>
          <p:nvPr>
            <p:ph idx="1"/>
          </p:nvPr>
        </p:nvSpPr>
        <p:spPr>
          <a:xfrm>
            <a:off x="1" y="6047692"/>
            <a:ext cx="2450430" cy="512618"/>
          </a:xfrm>
        </p:spPr>
        <p:txBody>
          <a:bodyPr>
            <a:normAutofit/>
          </a:bodyPr>
          <a:lstStyle/>
          <a:p>
            <a:pPr marL="0" indent="0">
              <a:buNone/>
            </a:pPr>
            <a:r>
              <a:rPr lang="fr-FR" sz="1400" b="1" dirty="0">
                <a:solidFill>
                  <a:srgbClr val="92D050"/>
                </a:solidFill>
              </a:rPr>
              <a:t>Réalisé par </a:t>
            </a:r>
            <a:r>
              <a:rPr lang="fr-FR" sz="1400" dirty="0"/>
              <a:t>: </a:t>
            </a:r>
            <a:r>
              <a:rPr lang="fr-FR" sz="1400" b="1" dirty="0" err="1"/>
              <a:t>Basma</a:t>
            </a:r>
            <a:r>
              <a:rPr lang="fr-FR" sz="1400" b="1" dirty="0"/>
              <a:t> Bouali</a:t>
            </a:r>
          </a:p>
        </p:txBody>
      </p:sp>
      <p:sp>
        <p:nvSpPr>
          <p:cNvPr id="4" name="Rectangle 1">
            <a:extLst>
              <a:ext uri="{FF2B5EF4-FFF2-40B4-BE49-F238E27FC236}">
                <a16:creationId xmlns:a16="http://schemas.microsoft.com/office/drawing/2014/main" id="{E875A812-2802-4FEC-8FB4-5354332D6C41}"/>
              </a:ext>
            </a:extLst>
          </p:cNvPr>
          <p:cNvSpPr>
            <a:spLocks noChangeArrowheads="1"/>
          </p:cNvSpPr>
          <p:nvPr/>
        </p:nvSpPr>
        <p:spPr bwMode="auto">
          <a:xfrm>
            <a:off x="0" y="107728"/>
            <a:ext cx="65" cy="24174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7457" rIns="0" bIns="-1745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2BFD3EEC-83CC-40B4-9BA1-F361F99A39DF}"/>
              </a:ext>
            </a:extLst>
          </p:cNvPr>
          <p:cNvSpPr txBox="1"/>
          <p:nvPr/>
        </p:nvSpPr>
        <p:spPr>
          <a:xfrm>
            <a:off x="2009366" y="6466676"/>
            <a:ext cx="3702686" cy="307777"/>
          </a:xfrm>
          <a:prstGeom prst="rect">
            <a:avLst/>
          </a:prstGeom>
          <a:noFill/>
        </p:spPr>
        <p:txBody>
          <a:bodyPr wrap="square" rtlCol="0">
            <a:spAutoFit/>
          </a:bodyPr>
          <a:lstStyle/>
          <a:p>
            <a:pPr algn="ctr"/>
            <a:r>
              <a:rPr lang="fr-FR" sz="1400" b="1" dirty="0"/>
              <a:t>Année Universitaire: 2023-2024</a:t>
            </a:r>
          </a:p>
        </p:txBody>
      </p:sp>
      <p:pic>
        <p:nvPicPr>
          <p:cNvPr id="9" name="Picture 8">
            <a:extLst>
              <a:ext uri="{FF2B5EF4-FFF2-40B4-BE49-F238E27FC236}">
                <a16:creationId xmlns:a16="http://schemas.microsoft.com/office/drawing/2014/main" id="{79F554F4-17A7-470E-9349-4298F3C4AA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7116" y="0"/>
            <a:ext cx="4810210" cy="6858000"/>
          </a:xfrm>
          <a:prstGeom prst="rect">
            <a:avLst/>
          </a:prstGeom>
        </p:spPr>
      </p:pic>
      <p:sp>
        <p:nvSpPr>
          <p:cNvPr id="6" name="TextBox 5">
            <a:extLst>
              <a:ext uri="{FF2B5EF4-FFF2-40B4-BE49-F238E27FC236}">
                <a16:creationId xmlns:a16="http://schemas.microsoft.com/office/drawing/2014/main" id="{3B0237C4-ECCC-4656-8287-27060699B9EF}"/>
              </a:ext>
            </a:extLst>
          </p:cNvPr>
          <p:cNvSpPr txBox="1"/>
          <p:nvPr/>
        </p:nvSpPr>
        <p:spPr>
          <a:xfrm>
            <a:off x="3147768" y="3957140"/>
            <a:ext cx="4279348" cy="1477328"/>
          </a:xfrm>
          <a:prstGeom prst="rect">
            <a:avLst/>
          </a:prstGeom>
          <a:noFill/>
        </p:spPr>
        <p:txBody>
          <a:bodyPr wrap="square" rtlCol="0">
            <a:spAutoFit/>
          </a:bodyPr>
          <a:lstStyle/>
          <a:p>
            <a:r>
              <a:rPr lang="fr-FR" b="1" dirty="0"/>
              <a:t>Master de recherche en Information System Techniques spécialité: Signal System Technique</a:t>
            </a:r>
          </a:p>
          <a:p>
            <a:r>
              <a:rPr lang="fr-FR" b="1" dirty="0">
                <a:solidFill>
                  <a:srgbClr val="92D050"/>
                </a:solidFill>
              </a:rPr>
              <a:t>Matière</a:t>
            </a:r>
            <a:r>
              <a:rPr lang="fr-FR" b="1" dirty="0">
                <a:solidFill>
                  <a:srgbClr val="00B050"/>
                </a:solidFill>
              </a:rPr>
              <a:t> </a:t>
            </a:r>
            <a:r>
              <a:rPr lang="fr-FR" b="1" dirty="0"/>
              <a:t>: intelligence Artificielle</a:t>
            </a:r>
          </a:p>
          <a:p>
            <a:r>
              <a:rPr lang="fr-FR" b="1" dirty="0">
                <a:solidFill>
                  <a:srgbClr val="92D050"/>
                </a:solidFill>
              </a:rPr>
              <a:t>Enseignante</a:t>
            </a:r>
            <a:r>
              <a:rPr lang="fr-FR" b="1" dirty="0"/>
              <a:t>: Imen Boudali </a:t>
            </a:r>
          </a:p>
        </p:txBody>
      </p:sp>
      <p:sp>
        <p:nvSpPr>
          <p:cNvPr id="7" name="Rectangle 6">
            <a:extLst>
              <a:ext uri="{FF2B5EF4-FFF2-40B4-BE49-F238E27FC236}">
                <a16:creationId xmlns:a16="http://schemas.microsoft.com/office/drawing/2014/main" id="{B9A3398C-382C-4332-8221-5F5572A58B3F}"/>
              </a:ext>
            </a:extLst>
          </p:cNvPr>
          <p:cNvSpPr/>
          <p:nvPr/>
        </p:nvSpPr>
        <p:spPr>
          <a:xfrm>
            <a:off x="1441578" y="-53205"/>
            <a:ext cx="4187175" cy="1015663"/>
          </a:xfrm>
          <a:prstGeom prst="rect">
            <a:avLst/>
          </a:prstGeom>
        </p:spPr>
        <p:txBody>
          <a:bodyPr wrap="square">
            <a:spAutoFit/>
          </a:bodyPr>
          <a:lstStyle/>
          <a:p>
            <a:pPr algn="ctr"/>
            <a:br>
              <a:rPr lang="fr-FR" dirty="0"/>
            </a:br>
            <a:r>
              <a:rPr lang="fr-FR" sz="1400" dirty="0">
                <a:latin typeface="+mj-lt"/>
              </a:rPr>
              <a:t>République Tunisienne</a:t>
            </a:r>
            <a:br>
              <a:rPr lang="fr-FR" sz="1400" dirty="0">
                <a:latin typeface="+mj-lt"/>
              </a:rPr>
            </a:br>
            <a:r>
              <a:rPr lang="fr-FR" sz="1400" dirty="0">
                <a:latin typeface="+mj-lt"/>
              </a:rPr>
              <a:t>Ministère de l’Enseignement Supérieur et</a:t>
            </a:r>
            <a:br>
              <a:rPr lang="fr-FR" sz="1400" dirty="0">
                <a:latin typeface="+mj-lt"/>
              </a:rPr>
            </a:br>
            <a:r>
              <a:rPr lang="fr-FR" sz="1400" dirty="0">
                <a:latin typeface="+mj-lt"/>
              </a:rPr>
              <a:t>de la Recherche Scientifique</a:t>
            </a:r>
          </a:p>
        </p:txBody>
      </p:sp>
      <p:sp>
        <p:nvSpPr>
          <p:cNvPr id="8" name="Rectangle 7">
            <a:extLst>
              <a:ext uri="{FF2B5EF4-FFF2-40B4-BE49-F238E27FC236}">
                <a16:creationId xmlns:a16="http://schemas.microsoft.com/office/drawing/2014/main" id="{418F199C-04E1-4CDF-9F37-6F61C3FDE71E}"/>
              </a:ext>
            </a:extLst>
          </p:cNvPr>
          <p:cNvSpPr/>
          <p:nvPr/>
        </p:nvSpPr>
        <p:spPr>
          <a:xfrm>
            <a:off x="1530780" y="1121133"/>
            <a:ext cx="3875548" cy="338554"/>
          </a:xfrm>
          <a:prstGeom prst="rect">
            <a:avLst/>
          </a:prstGeom>
        </p:spPr>
        <p:txBody>
          <a:bodyPr wrap="none">
            <a:spAutoFit/>
          </a:bodyPr>
          <a:lstStyle/>
          <a:p>
            <a:pPr algn="ctr"/>
            <a:r>
              <a:rPr lang="fr-FR" sz="1600" b="1" dirty="0">
                <a:latin typeface="+mj-lt"/>
              </a:rPr>
              <a:t>Ecole Nationale d’Ingénieurs de Tunis</a:t>
            </a:r>
            <a:endParaRPr lang="fr-FR" sz="1600" dirty="0">
              <a:latin typeface="+mj-lt"/>
            </a:endParaRPr>
          </a:p>
        </p:txBody>
      </p:sp>
      <p:pic>
        <p:nvPicPr>
          <p:cNvPr id="11" name="Picture 10">
            <a:extLst>
              <a:ext uri="{FF2B5EF4-FFF2-40B4-BE49-F238E27FC236}">
                <a16:creationId xmlns:a16="http://schemas.microsoft.com/office/drawing/2014/main" id="{105FAA6E-48CF-4F3B-BBAC-DEFDA9F52A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25217" cy="1121134"/>
          </a:xfrm>
          <a:prstGeom prst="rect">
            <a:avLst/>
          </a:prstGeom>
        </p:spPr>
      </p:pic>
      <p:pic>
        <p:nvPicPr>
          <p:cNvPr id="13" name="Picture 12">
            <a:extLst>
              <a:ext uri="{FF2B5EF4-FFF2-40B4-BE49-F238E27FC236}">
                <a16:creationId xmlns:a16="http://schemas.microsoft.com/office/drawing/2014/main" id="{B3F79000-630E-466A-A7F6-48225489AE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65693" y="0"/>
            <a:ext cx="1461423" cy="1121133"/>
          </a:xfrm>
          <a:prstGeom prst="rect">
            <a:avLst/>
          </a:prstGeom>
        </p:spPr>
      </p:pic>
    </p:spTree>
    <p:extLst>
      <p:ext uri="{BB962C8B-B14F-4D97-AF65-F5344CB8AC3E}">
        <p14:creationId xmlns:p14="http://schemas.microsoft.com/office/powerpoint/2010/main" val="4246792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circle(in)">
                                      <p:cBhvr>
                                        <p:cTn id="33" dur="20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3">
                                            <p:txEl>
                                              <p:pRg st="0" end="0"/>
                                            </p:txEl>
                                          </p:spTgt>
                                        </p:tgtEl>
                                        <p:attrNameLst>
                                          <p:attrName>style.visibility</p:attrName>
                                        </p:attrNameLst>
                                      </p:cBhvr>
                                      <p:to>
                                        <p:strVal val="visible"/>
                                      </p:to>
                                    </p:set>
                                    <p:anim calcmode="lin" valueType="num">
                                      <p:cBhvr additive="base">
                                        <p:cTn id="3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additive="base">
                                        <p:cTn id="44" dur="500" fill="hold"/>
                                        <p:tgtEl>
                                          <p:spTgt spid="5"/>
                                        </p:tgtEl>
                                        <p:attrNameLst>
                                          <p:attrName>ppt_x</p:attrName>
                                        </p:attrNameLst>
                                      </p:cBhvr>
                                      <p:tavLst>
                                        <p:tav tm="0">
                                          <p:val>
                                            <p:strVal val="#ppt_x"/>
                                          </p:val>
                                        </p:tav>
                                        <p:tav tm="100000">
                                          <p:val>
                                            <p:strVal val="#ppt_x"/>
                                          </p:val>
                                        </p:tav>
                                      </p:tavLst>
                                    </p:anim>
                                    <p:anim calcmode="lin" valueType="num">
                                      <p:cBhvr additive="base">
                                        <p:cTn id="4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P spid="6" grpId="0"/>
      <p:bldP spid="7"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14D3A-9313-43F2-BB06-1773A563710B}"/>
              </a:ext>
            </a:extLst>
          </p:cNvPr>
          <p:cNvSpPr>
            <a:spLocks noGrp="1"/>
          </p:cNvSpPr>
          <p:nvPr>
            <p:ph type="ctrTitle"/>
          </p:nvPr>
        </p:nvSpPr>
        <p:spPr>
          <a:xfrm>
            <a:off x="622300" y="1416975"/>
            <a:ext cx="10363752" cy="1594768"/>
          </a:xfrm>
        </p:spPr>
        <p:txBody>
          <a:bodyPr/>
          <a:lstStyle/>
          <a:p>
            <a:pPr algn="ctr"/>
            <a:r>
              <a:rPr lang="fr-FR" altLang="fr-FR" sz="2800" b="1" dirty="0">
                <a:solidFill>
                  <a:schemeClr val="tx1"/>
                </a:solidFill>
                <a:latin typeface="+mn-lt"/>
              </a:rPr>
              <a:t>Détection des différents stades de la maladie d’Alzheimer </a:t>
            </a:r>
            <a:br>
              <a:rPr lang="fr-FR" altLang="fr-FR" sz="2800" b="1" dirty="0">
                <a:solidFill>
                  <a:schemeClr val="tx1"/>
                </a:solidFill>
                <a:latin typeface="+mn-lt"/>
              </a:rPr>
            </a:br>
            <a:r>
              <a:rPr lang="fr-FR" altLang="fr-FR" sz="2800" b="1" dirty="0">
                <a:solidFill>
                  <a:schemeClr val="tx1"/>
                </a:solidFill>
                <a:latin typeface="+mn-lt"/>
              </a:rPr>
              <a:t>à l'aide des CNN et ANN pour l’extraction des </a:t>
            </a:r>
            <a:r>
              <a:rPr lang="fr-FR" altLang="fr-FR" sz="2800" b="1" dirty="0" err="1">
                <a:solidFill>
                  <a:schemeClr val="tx1"/>
                </a:solidFill>
                <a:latin typeface="+mn-lt"/>
              </a:rPr>
              <a:t>features</a:t>
            </a:r>
            <a:r>
              <a:rPr lang="fr-FR" altLang="fr-FR" sz="2800" b="1" dirty="0">
                <a:solidFill>
                  <a:schemeClr val="tx1"/>
                </a:solidFill>
                <a:latin typeface="+mn-lt"/>
              </a:rPr>
              <a:t> et le SVM, le KNN et le RF pour la classification</a:t>
            </a:r>
            <a:endParaRPr lang="fr-FR" sz="2800" dirty="0">
              <a:solidFill>
                <a:schemeClr val="tx1"/>
              </a:solidFill>
              <a:latin typeface="+mn-lt"/>
            </a:endParaRPr>
          </a:p>
        </p:txBody>
      </p:sp>
      <p:sp>
        <p:nvSpPr>
          <p:cNvPr id="3" name="Subtitle 2">
            <a:extLst>
              <a:ext uri="{FF2B5EF4-FFF2-40B4-BE49-F238E27FC236}">
                <a16:creationId xmlns:a16="http://schemas.microsoft.com/office/drawing/2014/main" id="{74A9E373-A97F-4541-B719-63CF49A34E5B}"/>
              </a:ext>
            </a:extLst>
          </p:cNvPr>
          <p:cNvSpPr>
            <a:spLocks noGrp="1"/>
          </p:cNvSpPr>
          <p:nvPr>
            <p:ph type="subTitle" idx="1"/>
          </p:nvPr>
        </p:nvSpPr>
        <p:spPr>
          <a:xfrm>
            <a:off x="106018" y="6029837"/>
            <a:ext cx="6586330" cy="720435"/>
          </a:xfrm>
        </p:spPr>
        <p:txBody>
          <a:bodyPr>
            <a:normAutofit fontScale="25000" lnSpcReduction="20000"/>
          </a:bodyPr>
          <a:lstStyle/>
          <a:p>
            <a:r>
              <a:rPr lang="fr-FR" sz="8000" b="1" dirty="0"/>
              <a:t>Auteurs</a:t>
            </a:r>
            <a:r>
              <a:rPr lang="fr-FR" sz="9600" b="1" dirty="0"/>
              <a:t> </a:t>
            </a:r>
            <a:r>
              <a:rPr lang="fr-FR" sz="9600" b="1" dirty="0">
                <a:solidFill>
                  <a:schemeClr val="tx1"/>
                </a:solidFill>
              </a:rPr>
              <a:t>:</a:t>
            </a:r>
            <a:r>
              <a:rPr lang="fr-FR" sz="9600" dirty="0">
                <a:solidFill>
                  <a:schemeClr val="tx1"/>
                </a:solidFill>
              </a:rPr>
              <a:t> </a:t>
            </a:r>
            <a:r>
              <a:rPr lang="fr-FR" dirty="0"/>
              <a:t> </a:t>
            </a:r>
            <a:r>
              <a:rPr lang="fr-FR" sz="6400" b="1" dirty="0" err="1"/>
              <a:t>Kawsar</a:t>
            </a:r>
            <a:r>
              <a:rPr lang="fr-FR" sz="6400" b="1" dirty="0"/>
              <a:t> Ahmed SM Hasan Mahmud  , Md </a:t>
            </a:r>
            <a:r>
              <a:rPr lang="fr-FR" sz="6400" b="1" dirty="0" err="1"/>
              <a:t>Mamun</a:t>
            </a:r>
            <a:r>
              <a:rPr lang="fr-FR" sz="6400" b="1" dirty="0"/>
              <a:t> Ali , Mohammad </a:t>
            </a:r>
            <a:r>
              <a:rPr lang="fr-FR" sz="6400" b="1" dirty="0" err="1"/>
              <a:t>Fahim</a:t>
            </a:r>
            <a:r>
              <a:rPr lang="fr-FR" sz="6400" b="1" dirty="0"/>
              <a:t> </a:t>
            </a:r>
            <a:r>
              <a:rPr lang="fr-FR" sz="6400" b="1" dirty="0" err="1"/>
              <a:t>Shahriar</a:t>
            </a:r>
            <a:r>
              <a:rPr lang="fr-FR" sz="6400" b="1" dirty="0"/>
              <a:t>  , </a:t>
            </a:r>
            <a:r>
              <a:rPr lang="fr-FR" sz="6400" b="1" dirty="0" err="1"/>
              <a:t>Fahad</a:t>
            </a:r>
            <a:r>
              <a:rPr lang="fr-FR" sz="6400" b="1" dirty="0"/>
              <a:t> Ahmed Al-</a:t>
            </a:r>
            <a:r>
              <a:rPr lang="fr-FR" sz="6400" b="1" dirty="0" err="1"/>
              <a:t>Zahrani</a:t>
            </a:r>
            <a:r>
              <a:rPr lang="fr-FR" sz="6400" b="1" dirty="0"/>
              <a:t>, </a:t>
            </a:r>
            <a:r>
              <a:rPr lang="fr-FR" sz="6400" b="1" dirty="0" err="1"/>
              <a:t>Kawsar</a:t>
            </a:r>
            <a:r>
              <a:rPr lang="fr-FR" sz="6400" b="1" dirty="0"/>
              <a:t> Ahmed , </a:t>
            </a:r>
            <a:r>
              <a:rPr lang="fr-FR" sz="6400" b="1" dirty="0" err="1"/>
              <a:t>Dip</a:t>
            </a:r>
            <a:r>
              <a:rPr lang="fr-FR" sz="6400" b="1" dirty="0"/>
              <a:t> Nandi  , Francis M. </a:t>
            </a:r>
            <a:r>
              <a:rPr lang="fr-FR" sz="6400" b="1" dirty="0" err="1"/>
              <a:t>Bui</a:t>
            </a:r>
            <a:r>
              <a:rPr lang="fr-FR" sz="6400" b="1" dirty="0"/>
              <a:t> </a:t>
            </a:r>
            <a:endParaRPr lang="fr-FR" sz="6400" b="1" dirty="0">
              <a:solidFill>
                <a:schemeClr val="tx1"/>
              </a:solidFill>
            </a:endParaRPr>
          </a:p>
          <a:p>
            <a:endParaRPr lang="fr-FR" dirty="0"/>
          </a:p>
        </p:txBody>
      </p:sp>
      <p:sp>
        <p:nvSpPr>
          <p:cNvPr id="4" name="Rectangle 3">
            <a:extLst>
              <a:ext uri="{FF2B5EF4-FFF2-40B4-BE49-F238E27FC236}">
                <a16:creationId xmlns:a16="http://schemas.microsoft.com/office/drawing/2014/main" id="{7122F255-71C9-479C-A84F-ACFB360E3ECF}"/>
              </a:ext>
            </a:extLst>
          </p:cNvPr>
          <p:cNvSpPr/>
          <p:nvPr/>
        </p:nvSpPr>
        <p:spPr>
          <a:xfrm>
            <a:off x="246430" y="660484"/>
            <a:ext cx="2513830" cy="461665"/>
          </a:xfrm>
          <a:prstGeom prst="rect">
            <a:avLst/>
          </a:prstGeom>
        </p:spPr>
        <p:txBody>
          <a:bodyPr wrap="none">
            <a:spAutoFit/>
          </a:bodyPr>
          <a:lstStyle/>
          <a:p>
            <a:r>
              <a:rPr lang="fr-FR" sz="2400" b="1" dirty="0">
                <a:solidFill>
                  <a:srgbClr val="92D050"/>
                </a:solidFill>
              </a:rPr>
              <a:t>Titre de l'article </a:t>
            </a:r>
            <a:endParaRPr lang="fr-FR" sz="2400" dirty="0">
              <a:solidFill>
                <a:srgbClr val="92D050"/>
              </a:solidFill>
            </a:endParaRPr>
          </a:p>
        </p:txBody>
      </p:sp>
      <p:sp>
        <p:nvSpPr>
          <p:cNvPr id="5" name="Rectangle 1">
            <a:extLst>
              <a:ext uri="{FF2B5EF4-FFF2-40B4-BE49-F238E27FC236}">
                <a16:creationId xmlns:a16="http://schemas.microsoft.com/office/drawing/2014/main" id="{B61658E7-CE59-499D-8A32-E07F3EF02F09}"/>
              </a:ext>
            </a:extLst>
          </p:cNvPr>
          <p:cNvSpPr>
            <a:spLocks noChangeArrowheads="1"/>
          </p:cNvSpPr>
          <p:nvPr/>
        </p:nvSpPr>
        <p:spPr bwMode="auto">
          <a:xfrm>
            <a:off x="0" y="107728"/>
            <a:ext cx="65" cy="24174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7457" rIns="0" bIns="-1745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D8DEED8B-8120-4D7D-A95F-4D0CF4095B48}"/>
              </a:ext>
            </a:extLst>
          </p:cNvPr>
          <p:cNvSpPr>
            <a:spLocks noChangeArrowheads="1"/>
          </p:cNvSpPr>
          <p:nvPr/>
        </p:nvSpPr>
        <p:spPr bwMode="auto">
          <a:xfrm>
            <a:off x="0" y="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00" b="0" i="0" u="none" strike="noStrike" cap="none" normalizeH="0" baseline="0">
                <a:ln>
                  <a:noFill/>
                </a:ln>
                <a:solidFill>
                  <a:srgbClr val="606060"/>
                </a:solidFill>
                <a:effectLst/>
                <a:latin typeface="Helvetica" panose="020B0604020202020204" pitchFamily="34" charset="0"/>
              </a:rPr>
              <a:t>Courriel : </a:t>
            </a:r>
            <a:r>
              <a:rPr kumimoji="0" lang="fr-FR" altLang="fr-FR" sz="1100" b="0" i="0" u="none" strike="noStrike" cap="none" normalizeH="0" baseline="0">
                <a:ln>
                  <a:noFill/>
                </a:ln>
                <a:solidFill>
                  <a:schemeClr val="tx1"/>
                </a:solidFill>
                <a:effectLst/>
              </a:rPr>
              <a:t>  </a:t>
            </a:r>
            <a:r>
              <a:rPr kumimoji="0" lang="fr-FR" altLang="fr-FR" sz="800" b="0" i="0" u="none" strike="noStrike" cap="none" normalizeH="0" baseline="0">
                <a:ln>
                  <a:noFill/>
                </a:ln>
                <a:solidFill>
                  <a:schemeClr val="tx1"/>
                </a:solidFill>
                <a:effectLst/>
              </a:rPr>
              <a:t> </a:t>
            </a:r>
            <a:r>
              <a:rPr kumimoji="0" lang="fr-FR" altLang="fr-FR" sz="1100" b="0" i="0" u="none" strike="noStrike" cap="none" normalizeH="0" baseline="0">
                <a:ln>
                  <a:noFill/>
                </a:ln>
                <a:solidFill>
                  <a:schemeClr val="tx1"/>
                </a:solidFill>
                <a:effectLst/>
              </a:rPr>
              <a:t>                                   </a:t>
            </a:r>
            <a:r>
              <a:rPr kumimoji="0" lang="fr-FR" altLang="fr-FR" sz="1000" b="0" i="0" u="none" strike="noStrike" cap="none" normalizeH="0" baseline="0">
                <a:ln>
                  <a:noFill/>
                </a:ln>
                <a:solidFill>
                  <a:srgbClr val="606060"/>
                </a:solidFill>
                <a:effectLst/>
                <a:latin typeface="Helvetica" panose="020B0604020202020204" pitchFamily="34" charset="0"/>
              </a:rPr>
              <a:t>,</a:t>
            </a:r>
            <a:r>
              <a:rPr kumimoji="0" lang="fr-FR" altLang="fr-FR" sz="1100" b="0" i="0" u="none" strike="noStrike" cap="none" normalizeH="0" baseline="0">
                <a:ln>
                  <a:noFill/>
                </a:ln>
                <a:solidFill>
                  <a:schemeClr val="tx1"/>
                </a:solidFill>
                <a:effectLst/>
              </a:rPr>
              <a:t>  </a:t>
            </a:r>
            <a:r>
              <a:rPr kumimoji="0" lang="fr-FR" altLang="fr-FR" sz="800" b="0" i="0" u="none" strike="noStrike" cap="none" normalizeH="0" baseline="0">
                <a:ln>
                  <a:noFill/>
                </a:ln>
                <a:solidFill>
                  <a:schemeClr val="tx1"/>
                </a:solidFill>
                <a:effectLst/>
              </a:rPr>
              <a:t> </a:t>
            </a:r>
            <a:r>
              <a:rPr kumimoji="0" lang="fr-FR" altLang="fr-FR" sz="1100" b="0" i="0" u="none" strike="noStrike" cap="none" normalizeH="0" baseline="0">
                <a:ln>
                  <a:noFill/>
                </a:ln>
                <a:solidFill>
                  <a:schemeClr val="tx1"/>
                </a:solidFill>
                <a:effectLst/>
              </a:rPr>
              <a:t>                            </a:t>
            </a:r>
            <a:r>
              <a:rPr kumimoji="0" lang="fr-FR" altLang="fr-FR" sz="1800" b="0" i="0" u="none" strike="noStrike" cap="none" normalizeH="0" baseline="0">
                <a:ln>
                  <a:noFill/>
                </a:ln>
                <a:solidFill>
                  <a:schemeClr val="tx1"/>
                </a:solidFill>
                <a:effectLst/>
                <a:latin typeface="Arial" panose="020B0604020202020204" pitchFamily="34" charset="0"/>
              </a:rPr>
              <a:t> </a:t>
            </a:r>
          </a:p>
        </p:txBody>
      </p:sp>
      <p:sp>
        <p:nvSpPr>
          <p:cNvPr id="9" name="Rectangle 8">
            <a:extLst>
              <a:ext uri="{FF2B5EF4-FFF2-40B4-BE49-F238E27FC236}">
                <a16:creationId xmlns:a16="http://schemas.microsoft.com/office/drawing/2014/main" id="{0A92E6F5-4235-49F1-BE9A-D7A04B33F670}"/>
              </a:ext>
            </a:extLst>
          </p:cNvPr>
          <p:cNvSpPr>
            <a:spLocks noChangeArrowheads="1"/>
          </p:cNvSpPr>
          <p:nvPr/>
        </p:nvSpPr>
        <p:spPr bwMode="auto">
          <a:xfrm>
            <a:off x="0" y="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000" b="0" i="0" u="none" strike="noStrike" cap="none" normalizeH="0" baseline="0">
                <a:ln>
                  <a:noFill/>
                </a:ln>
                <a:solidFill>
                  <a:srgbClr val="606060"/>
                </a:solidFill>
                <a:effectLst/>
                <a:latin typeface="Helvetica" panose="020B0604020202020204" pitchFamily="34" charset="0"/>
              </a:rPr>
              <a:t> Courriel : </a:t>
            </a:r>
            <a:r>
              <a:rPr kumimoji="0" lang="fr-FR" altLang="fr-FR" sz="1100" b="0" i="0" u="none" strike="noStrike" cap="none" normalizeH="0" baseline="0">
                <a:ln>
                  <a:noFill/>
                </a:ln>
                <a:solidFill>
                  <a:schemeClr val="tx1"/>
                </a:solidFill>
                <a:effectLst/>
              </a:rPr>
              <a:t>  </a:t>
            </a:r>
            <a:r>
              <a:rPr kumimoji="0" lang="fr-FR" altLang="fr-FR" sz="800" b="0" i="0" u="none" strike="noStrike" cap="none" normalizeH="0" baseline="0">
                <a:ln>
                  <a:noFill/>
                </a:ln>
                <a:solidFill>
                  <a:schemeClr val="tx1"/>
                </a:solidFill>
                <a:effectLst/>
              </a:rPr>
              <a:t> </a:t>
            </a:r>
            <a:r>
              <a:rPr kumimoji="0" lang="fr-FR" altLang="fr-FR" sz="1100" b="0" i="0" u="none" strike="noStrike" cap="none" normalizeH="0" baseline="0">
                <a:ln>
                  <a:noFill/>
                </a:ln>
                <a:solidFill>
                  <a:schemeClr val="tx1"/>
                </a:solidFill>
                <a:effectLst/>
              </a:rPr>
              <a:t>                                   </a:t>
            </a:r>
            <a:r>
              <a:rPr kumimoji="0" lang="fr-FR" altLang="fr-FR" sz="1000" b="0" i="0" u="none" strike="noStrike" cap="none" normalizeH="0" baseline="0">
                <a:ln>
                  <a:noFill/>
                </a:ln>
                <a:solidFill>
                  <a:srgbClr val="606060"/>
                </a:solidFill>
                <a:effectLst/>
                <a:latin typeface="Helvetica" panose="020B0604020202020204" pitchFamily="34" charset="0"/>
              </a:rPr>
              <a:t>,</a:t>
            </a:r>
            <a:r>
              <a:rPr kumimoji="0" lang="fr-FR" altLang="fr-FR" sz="1100" b="0" i="0" u="none" strike="noStrike" cap="none" normalizeH="0" baseline="0">
                <a:ln>
                  <a:noFill/>
                </a:ln>
                <a:solidFill>
                  <a:schemeClr val="tx1"/>
                </a:solidFill>
                <a:effectLst/>
              </a:rPr>
              <a:t>  </a:t>
            </a:r>
            <a:r>
              <a:rPr kumimoji="0" lang="fr-FR" altLang="fr-FR" sz="800" b="0" i="0" u="none" strike="noStrike" cap="none" normalizeH="0" baseline="0">
                <a:ln>
                  <a:noFill/>
                </a:ln>
                <a:solidFill>
                  <a:schemeClr val="tx1"/>
                </a:solidFill>
                <a:effectLst/>
              </a:rPr>
              <a:t> </a:t>
            </a:r>
            <a:r>
              <a:rPr kumimoji="0" lang="fr-FR" altLang="fr-FR" sz="1100" b="0" i="0" u="none" strike="noStrike" cap="none" normalizeH="0" baseline="0">
                <a:ln>
                  <a:noFill/>
                </a:ln>
                <a:solidFill>
                  <a:schemeClr val="tx1"/>
                </a:solidFill>
                <a:effectLst/>
              </a:rPr>
              <a:t>                            </a:t>
            </a:r>
            <a:r>
              <a:rPr kumimoji="0" lang="fr-FR" altLang="fr-FR" sz="1800" b="0" i="0" u="none" strike="noStrike" cap="none" normalizeH="0" baseline="0">
                <a:ln>
                  <a:noFill/>
                </a:ln>
                <a:solidFill>
                  <a:schemeClr val="tx1"/>
                </a:solidFill>
                <a:effectLst/>
                <a:latin typeface="Arial" panose="020B0604020202020204" pitchFamily="34" charset="0"/>
              </a:rPr>
              <a:t> </a:t>
            </a:r>
          </a:p>
        </p:txBody>
      </p:sp>
      <p:pic>
        <p:nvPicPr>
          <p:cNvPr id="2057" name="Picture 9" descr="e-mail">
            <a:extLst>
              <a:ext uri="{FF2B5EF4-FFF2-40B4-BE49-F238E27FC236}">
                <a16:creationId xmlns:a16="http://schemas.microsoft.com/office/drawing/2014/main" id="{CA572199-7F0D-4886-B0DA-0D3CCEA0C5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300" y="-136525"/>
            <a:ext cx="1381125" cy="13335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e-mail">
            <a:extLst>
              <a:ext uri="{FF2B5EF4-FFF2-40B4-BE49-F238E27FC236}">
                <a16:creationId xmlns:a16="http://schemas.microsoft.com/office/drawing/2014/main" id="{18448CF3-005A-421F-B271-ECD69EE9EC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500" y="-136525"/>
            <a:ext cx="1114425" cy="1333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53386C9F-1A8B-470B-97C3-268CF44B59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6187" y="3508203"/>
            <a:ext cx="10164420" cy="2083597"/>
          </a:xfrm>
          <a:prstGeom prst="rect">
            <a:avLst/>
          </a:prstGeom>
        </p:spPr>
      </p:pic>
    </p:spTree>
    <p:extLst>
      <p:ext uri="{BB962C8B-B14F-4D97-AF65-F5344CB8AC3E}">
        <p14:creationId xmlns:p14="http://schemas.microsoft.com/office/powerpoint/2010/main" val="30596291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down)">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0" end="0"/>
                                            </p:txEl>
                                          </p:spTgt>
                                        </p:tgtEl>
                                        <p:attrNameLst>
                                          <p:attrName>style.visibility</p:attrName>
                                        </p:attrNameLst>
                                      </p:cBhvr>
                                      <p:to>
                                        <p:strVal val="visible"/>
                                      </p:to>
                                    </p:set>
                                    <p:animEffect transition="in" filter="fade">
                                      <p:cBhvr>
                                        <p:cTn id="24" dur="1000"/>
                                        <p:tgtEl>
                                          <p:spTgt spid="3">
                                            <p:txEl>
                                              <p:pRg st="0" end="0"/>
                                            </p:txEl>
                                          </p:spTgt>
                                        </p:tgtEl>
                                      </p:cBhvr>
                                    </p:animEffect>
                                    <p:anim calcmode="lin" valueType="num">
                                      <p:cBhvr>
                                        <p:cTn id="2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74E9C08A-47F6-4D7D-AF99-8061C6AF513E}"/>
              </a:ext>
            </a:extLst>
          </p:cNvPr>
          <p:cNvSpPr txBox="1">
            <a:spLocks/>
          </p:cNvSpPr>
          <p:nvPr/>
        </p:nvSpPr>
        <p:spPr>
          <a:xfrm>
            <a:off x="554182" y="1750492"/>
            <a:ext cx="7315200" cy="554182"/>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0" i="0" kern="1200" cap="all">
                <a:solidFill>
                  <a:schemeClr val="accent1"/>
                </a:solidFill>
                <a:latin typeface="+mj-lt"/>
                <a:ea typeface="+mj-ea"/>
                <a:cs typeface="+mj-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9pPr>
          </a:lstStyle>
          <a:p>
            <a:endParaRPr lang="fr-FR" dirty="0"/>
          </a:p>
        </p:txBody>
      </p:sp>
      <p:sp>
        <p:nvSpPr>
          <p:cNvPr id="7" name="Subtitle 2">
            <a:extLst>
              <a:ext uri="{FF2B5EF4-FFF2-40B4-BE49-F238E27FC236}">
                <a16:creationId xmlns:a16="http://schemas.microsoft.com/office/drawing/2014/main" id="{D656C62B-B300-46CC-8B30-EDED07ADCA99}"/>
              </a:ext>
            </a:extLst>
          </p:cNvPr>
          <p:cNvSpPr txBox="1">
            <a:spLocks/>
          </p:cNvSpPr>
          <p:nvPr/>
        </p:nvSpPr>
        <p:spPr>
          <a:xfrm>
            <a:off x="554182" y="484909"/>
            <a:ext cx="7315200" cy="554182"/>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0" i="0" kern="1200" cap="all">
                <a:solidFill>
                  <a:schemeClr val="accent1"/>
                </a:solidFill>
                <a:latin typeface="+mj-lt"/>
                <a:ea typeface="+mj-ea"/>
                <a:cs typeface="+mj-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9pPr>
          </a:lstStyle>
          <a:p>
            <a:r>
              <a:rPr lang="fr-FR" b="1" dirty="0"/>
              <a:t>Introduction</a:t>
            </a:r>
            <a:endParaRPr lang="fr-FR" dirty="0"/>
          </a:p>
        </p:txBody>
      </p:sp>
      <p:sp>
        <p:nvSpPr>
          <p:cNvPr id="10" name="Content Placeholder 2">
            <a:extLst>
              <a:ext uri="{FF2B5EF4-FFF2-40B4-BE49-F238E27FC236}">
                <a16:creationId xmlns:a16="http://schemas.microsoft.com/office/drawing/2014/main" id="{87AECA2F-5D3F-455A-BD75-7A122DD3CB68}"/>
              </a:ext>
            </a:extLst>
          </p:cNvPr>
          <p:cNvSpPr txBox="1">
            <a:spLocks/>
          </p:cNvSpPr>
          <p:nvPr/>
        </p:nvSpPr>
        <p:spPr>
          <a:xfrm>
            <a:off x="554182" y="4399722"/>
            <a:ext cx="10524635" cy="120594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457200" indent="-457200">
              <a:buFont typeface="+mj-lt"/>
              <a:buAutoNum type="arabicPeriod"/>
            </a:pPr>
            <a:endParaRPr lang="fr-FR" b="1" dirty="0"/>
          </a:p>
          <a:p>
            <a:pPr marL="457200" indent="-457200">
              <a:buFont typeface="+mj-lt"/>
              <a:buAutoNum type="arabicPeriod"/>
            </a:pPr>
            <a:endParaRPr lang="fr-FR" dirty="0"/>
          </a:p>
          <a:p>
            <a:pPr marL="457200" indent="-457200">
              <a:buFont typeface="+mj-lt"/>
              <a:buAutoNum type="arabicPeriod"/>
            </a:pPr>
            <a:endParaRPr lang="fr-FR" dirty="0"/>
          </a:p>
          <a:p>
            <a:pPr marL="457200" indent="-457200">
              <a:buFont typeface="+mj-lt"/>
              <a:buAutoNum type="arabicPeriod"/>
            </a:pPr>
            <a:endParaRPr lang="fr-FR" dirty="0"/>
          </a:p>
        </p:txBody>
      </p:sp>
      <p:sp>
        <p:nvSpPr>
          <p:cNvPr id="11" name="Content Placeholder 2">
            <a:extLst>
              <a:ext uri="{FF2B5EF4-FFF2-40B4-BE49-F238E27FC236}">
                <a16:creationId xmlns:a16="http://schemas.microsoft.com/office/drawing/2014/main" id="{77C7DD75-F41C-4704-9C8F-3C4CBCB193F6}"/>
              </a:ext>
            </a:extLst>
          </p:cNvPr>
          <p:cNvSpPr txBox="1">
            <a:spLocks/>
          </p:cNvSpPr>
          <p:nvPr/>
        </p:nvSpPr>
        <p:spPr>
          <a:xfrm>
            <a:off x="554182" y="2282086"/>
            <a:ext cx="10683661" cy="198511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457200" indent="-457200">
              <a:buFont typeface="+mj-lt"/>
              <a:buAutoNum type="arabicPeriod"/>
            </a:pPr>
            <a:endParaRPr lang="fr-FR" b="1" dirty="0"/>
          </a:p>
          <a:p>
            <a:pPr marL="457200" indent="-457200">
              <a:buFont typeface="+mj-lt"/>
              <a:buAutoNum type="arabicPeriod"/>
            </a:pPr>
            <a:endParaRPr lang="fr-FR" dirty="0"/>
          </a:p>
          <a:p>
            <a:pPr marL="457200" indent="-457200">
              <a:buFont typeface="+mj-lt"/>
              <a:buAutoNum type="arabicPeriod"/>
            </a:pPr>
            <a:endParaRPr lang="fr-FR" dirty="0"/>
          </a:p>
          <a:p>
            <a:pPr marL="457200" indent="-457200">
              <a:buFont typeface="+mj-lt"/>
              <a:buAutoNum type="arabicPeriod"/>
            </a:pPr>
            <a:endParaRPr lang="fr-FR" dirty="0"/>
          </a:p>
        </p:txBody>
      </p:sp>
      <p:sp>
        <p:nvSpPr>
          <p:cNvPr id="12" name="Content Placeholder 2">
            <a:extLst>
              <a:ext uri="{FF2B5EF4-FFF2-40B4-BE49-F238E27FC236}">
                <a16:creationId xmlns:a16="http://schemas.microsoft.com/office/drawing/2014/main" id="{930A0DF6-3C7C-4E32-9188-8E0215CB0675}"/>
              </a:ext>
            </a:extLst>
          </p:cNvPr>
          <p:cNvSpPr txBox="1">
            <a:spLocks/>
          </p:cNvSpPr>
          <p:nvPr/>
        </p:nvSpPr>
        <p:spPr>
          <a:xfrm>
            <a:off x="1302209" y="5602057"/>
            <a:ext cx="9776607" cy="84753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None/>
            </a:pPr>
            <a:r>
              <a:rPr lang="fr-FR" b="1" dirty="0">
                <a:solidFill>
                  <a:schemeClr val="accent1">
                    <a:lumMod val="60000"/>
                    <a:lumOff val="40000"/>
                  </a:schemeClr>
                </a:solidFill>
              </a:rPr>
              <a:t>Lien vers l'article </a:t>
            </a:r>
            <a:r>
              <a:rPr lang="fr-FR" b="1" dirty="0"/>
              <a:t>: </a:t>
            </a:r>
            <a:r>
              <a:rPr lang="fr-FR" b="1" dirty="0">
                <a:hlinkClick r:id="rId2"/>
              </a:rPr>
              <a:t>https://www.techscience.com/cmc/v76n3/54339/html</a:t>
            </a:r>
            <a:br>
              <a:rPr lang="fr-FR" b="1" dirty="0"/>
            </a:br>
            <a:r>
              <a:rPr lang="fr-FR" b="1" dirty="0"/>
              <a:t>           Cet article  est Accepté le 13 juin 2023 et publié le 08 octobre 2023</a:t>
            </a:r>
            <a:endParaRPr lang="fr-FR" dirty="0"/>
          </a:p>
          <a:p>
            <a:pPr marL="0" indent="0">
              <a:buNone/>
            </a:pPr>
            <a:endParaRPr lang="fr-FR" dirty="0"/>
          </a:p>
        </p:txBody>
      </p:sp>
      <p:sp>
        <p:nvSpPr>
          <p:cNvPr id="13" name="Content Placeholder 2">
            <a:extLst>
              <a:ext uri="{FF2B5EF4-FFF2-40B4-BE49-F238E27FC236}">
                <a16:creationId xmlns:a16="http://schemas.microsoft.com/office/drawing/2014/main" id="{CA47A664-944B-4FA7-A2C1-925B57B25640}"/>
              </a:ext>
            </a:extLst>
          </p:cNvPr>
          <p:cNvSpPr txBox="1">
            <a:spLocks/>
          </p:cNvSpPr>
          <p:nvPr/>
        </p:nvSpPr>
        <p:spPr>
          <a:xfrm>
            <a:off x="1302208" y="4479536"/>
            <a:ext cx="9312783" cy="125865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None/>
            </a:pPr>
            <a:r>
              <a:rPr lang="fr-FR" b="1" dirty="0"/>
              <a:t>Après avoir l'analyse des performances a montré que leur modèle avec classe binaire a surpassé les autres algorithmes, atteignant une précision de 88,20 %.</a:t>
            </a:r>
            <a:endParaRPr lang="fr-FR" dirty="0"/>
          </a:p>
        </p:txBody>
      </p:sp>
      <p:sp>
        <p:nvSpPr>
          <p:cNvPr id="14" name="Content Placeholder 2">
            <a:extLst>
              <a:ext uri="{FF2B5EF4-FFF2-40B4-BE49-F238E27FC236}">
                <a16:creationId xmlns:a16="http://schemas.microsoft.com/office/drawing/2014/main" id="{535FE42B-8EC7-436C-95BF-11B6A4A9D33F}"/>
              </a:ext>
            </a:extLst>
          </p:cNvPr>
          <p:cNvSpPr txBox="1">
            <a:spLocks/>
          </p:cNvSpPr>
          <p:nvPr/>
        </p:nvSpPr>
        <p:spPr>
          <a:xfrm>
            <a:off x="1113183" y="2304674"/>
            <a:ext cx="9965633" cy="2042341"/>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None/>
            </a:pPr>
            <a:r>
              <a:rPr lang="fr-FR" b="1" dirty="0"/>
              <a:t> MA a des impacts sérieux, mais la détection précoce peut partiellement atténuer ces effets, même si la guérison permanente reste impossible. La détection précoce est particulièrement complexe. On l ’utilise cinq modèles de prétraitement avec des techniques d'augmentation pour identifier efficacement la maladie. Deux modèles  prédictifs, CNN et ANN, ont été appliqués pour détecter la maladie au début, ainsi que trois classificateurs d'apprentissage automatique RF, KNN et SVM.</a:t>
            </a:r>
            <a:endParaRPr lang="fr-FR" dirty="0"/>
          </a:p>
        </p:txBody>
      </p:sp>
      <p:sp>
        <p:nvSpPr>
          <p:cNvPr id="15" name="Content Placeholder 2">
            <a:extLst>
              <a:ext uri="{FF2B5EF4-FFF2-40B4-BE49-F238E27FC236}">
                <a16:creationId xmlns:a16="http://schemas.microsoft.com/office/drawing/2014/main" id="{5E08A9B6-C3B5-4632-AB4A-041AFCE1F73F}"/>
              </a:ext>
            </a:extLst>
          </p:cNvPr>
          <p:cNvSpPr txBox="1">
            <a:spLocks/>
          </p:cNvSpPr>
          <p:nvPr/>
        </p:nvSpPr>
        <p:spPr>
          <a:xfrm>
            <a:off x="1218481" y="1118905"/>
            <a:ext cx="9098337" cy="11631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None/>
            </a:pPr>
            <a:r>
              <a:rPr lang="fr-FR" b="1" dirty="0"/>
              <a:t>Maladie </a:t>
            </a:r>
            <a:r>
              <a:rPr lang="fr-FR" b="1" dirty="0" err="1"/>
              <a:t>Alzaheimer</a:t>
            </a:r>
            <a:r>
              <a:rPr lang="fr-FR" b="1" dirty="0"/>
              <a:t>(MA) est une déficience neurodéveloppementale qui entraîne une perte de comportement, de réflexion , le vieillissement précoce et de mémoire</a:t>
            </a:r>
            <a:endParaRPr lang="fr-FR" dirty="0"/>
          </a:p>
        </p:txBody>
      </p:sp>
    </p:spTree>
    <p:extLst>
      <p:ext uri="{BB962C8B-B14F-4D97-AF65-F5344CB8AC3E}">
        <p14:creationId xmlns:p14="http://schemas.microsoft.com/office/powerpoint/2010/main" val="179414032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3" grpId="0"/>
      <p:bldP spid="14"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B2CA55-EC65-4555-B360-B3C68FDAA4CA}"/>
              </a:ext>
            </a:extLst>
          </p:cNvPr>
          <p:cNvSpPr>
            <a:spLocks noGrp="1"/>
          </p:cNvSpPr>
          <p:nvPr>
            <p:ph idx="1"/>
          </p:nvPr>
        </p:nvSpPr>
        <p:spPr>
          <a:xfrm>
            <a:off x="334686" y="2092675"/>
            <a:ext cx="5986601" cy="2360056"/>
          </a:xfrm>
        </p:spPr>
        <p:txBody>
          <a:bodyPr>
            <a:normAutofit/>
          </a:bodyPr>
          <a:lstStyle/>
          <a:p>
            <a:pPr marL="457200" indent="-457200">
              <a:buFont typeface="+mj-lt"/>
              <a:buAutoNum type="arabicPeriod"/>
            </a:pPr>
            <a:r>
              <a:rPr lang="fr-FR" b="1" dirty="0"/>
              <a:t>Etude comparative des algorithmes</a:t>
            </a:r>
          </a:p>
          <a:p>
            <a:pPr marL="457200" indent="-457200">
              <a:buFont typeface="+mj-lt"/>
              <a:buAutoNum type="arabicPeriod"/>
            </a:pPr>
            <a:r>
              <a:rPr lang="fr-FR" b="1" dirty="0"/>
              <a:t>Problèmes abordée de l’algorithme</a:t>
            </a:r>
          </a:p>
          <a:p>
            <a:pPr marL="457200" indent="-457200">
              <a:buFont typeface="+mj-lt"/>
              <a:buAutoNum type="arabicPeriod"/>
            </a:pPr>
            <a:r>
              <a:rPr lang="fr-FR" b="1" dirty="0"/>
              <a:t>Etat de l’art de Problèmes de l’Algorithme</a:t>
            </a:r>
          </a:p>
          <a:p>
            <a:pPr marL="457200" indent="-457200">
              <a:buFont typeface="+mj-lt"/>
              <a:buAutoNum type="arabicPeriod"/>
            </a:pPr>
            <a:r>
              <a:rPr lang="fr-FR" b="1" dirty="0"/>
              <a:t>Approche contribution de l’algorithme</a:t>
            </a:r>
          </a:p>
          <a:p>
            <a:pPr marL="457200" indent="-457200">
              <a:buFont typeface="+mj-lt"/>
              <a:buAutoNum type="arabicPeriod"/>
            </a:pPr>
            <a:r>
              <a:rPr lang="fr-FR" b="1" dirty="0"/>
              <a:t>Résultat et simulation de l’algorithme</a:t>
            </a:r>
          </a:p>
          <a:p>
            <a:pPr marL="457200" indent="-457200">
              <a:buFont typeface="+mj-lt"/>
              <a:buAutoNum type="arabicPeriod"/>
            </a:pPr>
            <a:endParaRPr lang="fr-FR" b="1" dirty="0"/>
          </a:p>
          <a:p>
            <a:pPr marL="457200" indent="-457200">
              <a:buFont typeface="+mj-lt"/>
              <a:buAutoNum type="arabicPeriod"/>
            </a:pPr>
            <a:endParaRPr lang="fr-FR" dirty="0"/>
          </a:p>
          <a:p>
            <a:pPr marL="457200" indent="-457200">
              <a:buFont typeface="+mj-lt"/>
              <a:buAutoNum type="arabicPeriod"/>
            </a:pPr>
            <a:endParaRPr lang="fr-FR" dirty="0"/>
          </a:p>
          <a:p>
            <a:pPr marL="457200" indent="-457200">
              <a:buFont typeface="+mj-lt"/>
              <a:buAutoNum type="arabicPeriod"/>
            </a:pPr>
            <a:endParaRPr lang="fr-FR" dirty="0"/>
          </a:p>
        </p:txBody>
      </p:sp>
      <p:pic>
        <p:nvPicPr>
          <p:cNvPr id="4" name="Picture 3">
            <a:extLst>
              <a:ext uri="{FF2B5EF4-FFF2-40B4-BE49-F238E27FC236}">
                <a16:creationId xmlns:a16="http://schemas.microsoft.com/office/drawing/2014/main" id="{D313ABC2-A69D-44D9-A95D-59A9EB49BA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1287" y="0"/>
            <a:ext cx="5870713" cy="6858000"/>
          </a:xfrm>
          <a:prstGeom prst="rect">
            <a:avLst/>
          </a:prstGeom>
        </p:spPr>
      </p:pic>
    </p:spTree>
    <p:extLst>
      <p:ext uri="{BB962C8B-B14F-4D97-AF65-F5344CB8AC3E}">
        <p14:creationId xmlns:p14="http://schemas.microsoft.com/office/powerpoint/2010/main" val="2297834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C0657-7457-4FD6-BC3F-6E9D234EF2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DD714D3A-9313-43F2-BB06-1773A563710B}"/>
              </a:ext>
            </a:extLst>
          </p:cNvPr>
          <p:cNvSpPr>
            <a:spLocks noGrp="1"/>
          </p:cNvSpPr>
          <p:nvPr>
            <p:ph type="ctrTitle"/>
          </p:nvPr>
        </p:nvSpPr>
        <p:spPr>
          <a:xfrm>
            <a:off x="4165601" y="1450109"/>
            <a:ext cx="4470400" cy="2341418"/>
          </a:xfrm>
        </p:spPr>
        <p:txBody>
          <a:bodyPr/>
          <a:lstStyle/>
          <a:p>
            <a:pPr algn="ctr"/>
            <a:r>
              <a:rPr lang="fr-FR" sz="3200" dirty="0">
                <a:solidFill>
                  <a:schemeClr val="tx1"/>
                </a:solidFill>
              </a:rPr>
              <a:t>Etude comparative des algorithmes </a:t>
            </a:r>
            <a:br>
              <a:rPr lang="fr-FR" sz="3200" dirty="0"/>
            </a:br>
            <a:endParaRPr lang="fr-FR" sz="3200" dirty="0"/>
          </a:p>
        </p:txBody>
      </p:sp>
      <p:sp>
        <p:nvSpPr>
          <p:cNvPr id="4" name="Title 1">
            <a:extLst>
              <a:ext uri="{FF2B5EF4-FFF2-40B4-BE49-F238E27FC236}">
                <a16:creationId xmlns:a16="http://schemas.microsoft.com/office/drawing/2014/main" id="{44DEC3B3-5C71-4AA3-AC04-BC4C5BDB8497}"/>
              </a:ext>
            </a:extLst>
          </p:cNvPr>
          <p:cNvSpPr txBox="1">
            <a:spLocks/>
          </p:cNvSpPr>
          <p:nvPr/>
        </p:nvSpPr>
        <p:spPr>
          <a:xfrm>
            <a:off x="0" y="3810000"/>
            <a:ext cx="11443854" cy="2341418"/>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fr-FR" sz="1200" dirty="0"/>
          </a:p>
        </p:txBody>
      </p:sp>
    </p:spTree>
    <p:extLst>
      <p:ext uri="{BB962C8B-B14F-4D97-AF65-F5344CB8AC3E}">
        <p14:creationId xmlns:p14="http://schemas.microsoft.com/office/powerpoint/2010/main" val="4094563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86356-5039-411B-A813-0BD5B1B122FE}"/>
              </a:ext>
            </a:extLst>
          </p:cNvPr>
          <p:cNvSpPr>
            <a:spLocks noGrp="1"/>
          </p:cNvSpPr>
          <p:nvPr>
            <p:ph type="title"/>
          </p:nvPr>
        </p:nvSpPr>
        <p:spPr>
          <a:xfrm>
            <a:off x="646111" y="452718"/>
            <a:ext cx="6178759" cy="878541"/>
          </a:xfrm>
        </p:spPr>
        <p:txBody>
          <a:bodyPr/>
          <a:lstStyle/>
          <a:p>
            <a:pPr algn="ctr"/>
            <a:r>
              <a:rPr lang="fr-FR" sz="4400" b="1" dirty="0"/>
              <a:t>Définir les objectifs</a:t>
            </a:r>
            <a:br>
              <a:rPr lang="fr-FR" sz="4400" b="1" dirty="0"/>
            </a:br>
            <a:br>
              <a:rPr lang="fr-FR" dirty="0"/>
            </a:br>
            <a:endParaRPr lang="fr-FR" dirty="0"/>
          </a:p>
        </p:txBody>
      </p:sp>
      <p:sp>
        <p:nvSpPr>
          <p:cNvPr id="3" name="Content Placeholder 2">
            <a:extLst>
              <a:ext uri="{FF2B5EF4-FFF2-40B4-BE49-F238E27FC236}">
                <a16:creationId xmlns:a16="http://schemas.microsoft.com/office/drawing/2014/main" id="{60F4989C-2B03-4246-AD92-32AE3FC6C113}"/>
              </a:ext>
            </a:extLst>
          </p:cNvPr>
          <p:cNvSpPr>
            <a:spLocks noGrp="1"/>
          </p:cNvSpPr>
          <p:nvPr>
            <p:ph idx="1"/>
          </p:nvPr>
        </p:nvSpPr>
        <p:spPr>
          <a:xfrm>
            <a:off x="506963" y="2726635"/>
            <a:ext cx="6457054" cy="2879035"/>
          </a:xfrm>
        </p:spPr>
        <p:txBody>
          <a:bodyPr>
            <a:noAutofit/>
          </a:bodyPr>
          <a:lstStyle/>
          <a:p>
            <a:r>
              <a:rPr lang="fr-FR" sz="2400" b="1" dirty="0">
                <a:latin typeface="+mn-lt"/>
                <a:ea typeface="Tahoma" panose="020B0604030504040204" pitchFamily="34" charset="0"/>
                <a:cs typeface="Tahoma" panose="020B0604030504040204" pitchFamily="34" charset="0"/>
              </a:rPr>
              <a:t>La détection précoce constitue la tâche la plus difficile pour contrôler et atténuer l’impact de la maladie d’</a:t>
            </a:r>
            <a:r>
              <a:rPr lang="fr-FR" sz="2400" b="1" dirty="0" err="1">
                <a:latin typeface="+mn-lt"/>
                <a:ea typeface="Tahoma" panose="020B0604030504040204" pitchFamily="34" charset="0"/>
                <a:cs typeface="Tahoma" panose="020B0604030504040204" pitchFamily="34" charset="0"/>
              </a:rPr>
              <a:t>alzaheimer</a:t>
            </a:r>
            <a:r>
              <a:rPr lang="fr-FR" sz="2400" b="1" dirty="0">
                <a:latin typeface="+mn-lt"/>
                <a:ea typeface="Tahoma" panose="020B0604030504040204" pitchFamily="34" charset="0"/>
                <a:cs typeface="Tahoma" panose="020B0604030504040204" pitchFamily="34" charset="0"/>
              </a:rPr>
              <a:t>(MA) d'une personne au point où elle oublie fréquemment des choses et a du mal à accomplir les tâches quotidiennes</a:t>
            </a:r>
          </a:p>
          <a:p>
            <a:pPr marL="0" indent="0">
              <a:buNone/>
            </a:pPr>
            <a:endParaRPr lang="fr-FR" b="1" dirty="0"/>
          </a:p>
        </p:txBody>
      </p:sp>
      <p:pic>
        <p:nvPicPr>
          <p:cNvPr id="4" name="Picture 3">
            <a:extLst>
              <a:ext uri="{FF2B5EF4-FFF2-40B4-BE49-F238E27FC236}">
                <a16:creationId xmlns:a16="http://schemas.microsoft.com/office/drawing/2014/main" id="{45288222-6C1C-40DE-8618-9A95528EF1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9426" y="0"/>
            <a:ext cx="5067900" cy="6858000"/>
          </a:xfrm>
          <a:prstGeom prst="rect">
            <a:avLst/>
          </a:prstGeom>
        </p:spPr>
      </p:pic>
    </p:spTree>
    <p:extLst>
      <p:ext uri="{BB962C8B-B14F-4D97-AF65-F5344CB8AC3E}">
        <p14:creationId xmlns:p14="http://schemas.microsoft.com/office/powerpoint/2010/main" val="3145193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C4EECAB-F25A-4B70-94F3-C83B72B122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5264800" y="-69196"/>
            <a:ext cx="1662397" cy="12191997"/>
          </a:xfrm>
          <a:prstGeom prst="rect">
            <a:avLst/>
          </a:prstGeom>
        </p:spPr>
      </p:pic>
      <p:sp>
        <p:nvSpPr>
          <p:cNvPr id="2" name="Title 1">
            <a:extLst>
              <a:ext uri="{FF2B5EF4-FFF2-40B4-BE49-F238E27FC236}">
                <a16:creationId xmlns:a16="http://schemas.microsoft.com/office/drawing/2014/main" id="{1CC9B089-2D1F-4482-B0B1-4F1F9D8C71D1}"/>
              </a:ext>
            </a:extLst>
          </p:cNvPr>
          <p:cNvSpPr>
            <a:spLocks noGrp="1"/>
          </p:cNvSpPr>
          <p:nvPr>
            <p:ph type="title"/>
          </p:nvPr>
        </p:nvSpPr>
        <p:spPr>
          <a:xfrm>
            <a:off x="1351722" y="256914"/>
            <a:ext cx="9046914" cy="1399608"/>
          </a:xfrm>
        </p:spPr>
        <p:txBody>
          <a:bodyPr/>
          <a:lstStyle/>
          <a:p>
            <a:pPr algn="ctr"/>
            <a:r>
              <a:rPr lang="fr-FR" sz="4400" b="1" dirty="0"/>
              <a:t>Les algorithmes d’apprentissage profond et Classification</a:t>
            </a:r>
            <a:br>
              <a:rPr lang="fr-FR" sz="4400" b="1" dirty="0"/>
            </a:br>
            <a:endParaRPr lang="fr-FR" dirty="0"/>
          </a:p>
        </p:txBody>
      </p:sp>
      <p:sp>
        <p:nvSpPr>
          <p:cNvPr id="3" name="Content Placeholder 2">
            <a:extLst>
              <a:ext uri="{FF2B5EF4-FFF2-40B4-BE49-F238E27FC236}">
                <a16:creationId xmlns:a16="http://schemas.microsoft.com/office/drawing/2014/main" id="{F8CC527F-665A-41EB-B6C9-E217964EE7BA}"/>
              </a:ext>
            </a:extLst>
          </p:cNvPr>
          <p:cNvSpPr>
            <a:spLocks noGrp="1"/>
          </p:cNvSpPr>
          <p:nvPr>
            <p:ph idx="1"/>
          </p:nvPr>
        </p:nvSpPr>
        <p:spPr>
          <a:xfrm>
            <a:off x="432955" y="1919309"/>
            <a:ext cx="6484679" cy="3276295"/>
          </a:xfrm>
        </p:spPr>
        <p:txBody>
          <a:bodyPr>
            <a:normAutofit/>
          </a:bodyPr>
          <a:lstStyle/>
          <a:p>
            <a:pPr algn="ctr"/>
            <a:endParaRPr lang="fr-FR" dirty="0">
              <a:latin typeface="+mn-lt"/>
            </a:endParaRPr>
          </a:p>
          <a:p>
            <a:r>
              <a:rPr lang="fr-FR" sz="2400" b="1" dirty="0">
                <a:latin typeface="+mn-lt"/>
                <a:ea typeface="Tahoma" panose="020B0604030504040204" pitchFamily="34" charset="0"/>
                <a:cs typeface="Tahoma" panose="020B0604030504040204" pitchFamily="34" charset="0"/>
              </a:rPr>
              <a:t>Réseau de neurone convolutif (CNN)</a:t>
            </a:r>
          </a:p>
          <a:p>
            <a:r>
              <a:rPr lang="fr-FR" sz="2400" dirty="0">
                <a:latin typeface="+mn-lt"/>
                <a:ea typeface="Tahoma" panose="020B0604030504040204" pitchFamily="34" charset="0"/>
                <a:cs typeface="Tahoma" panose="020B0604030504040204" pitchFamily="34" charset="0"/>
              </a:rPr>
              <a:t> </a:t>
            </a:r>
            <a:r>
              <a:rPr lang="fr-FR" sz="2400" b="1" dirty="0">
                <a:latin typeface="+mn-lt"/>
                <a:ea typeface="Tahoma" panose="020B0604030504040204" pitchFamily="34" charset="0"/>
                <a:cs typeface="Tahoma" panose="020B0604030504040204" pitchFamily="34" charset="0"/>
              </a:rPr>
              <a:t>Réseau neurone artificielle (ANN))</a:t>
            </a:r>
          </a:p>
          <a:p>
            <a:r>
              <a:rPr lang="fr-FR" sz="2400" b="1" dirty="0">
                <a:latin typeface="+mn-lt"/>
                <a:ea typeface="Tahoma" panose="020B0604030504040204" pitchFamily="34" charset="0"/>
                <a:cs typeface="Tahoma" panose="020B0604030504040204" pitchFamily="34" charset="0"/>
              </a:rPr>
              <a:t>KNN(K-</a:t>
            </a:r>
            <a:r>
              <a:rPr lang="fr-FR" sz="2400" b="1" dirty="0" err="1">
                <a:latin typeface="+mn-lt"/>
                <a:ea typeface="Tahoma" panose="020B0604030504040204" pitchFamily="34" charset="0"/>
                <a:cs typeface="Tahoma" panose="020B0604030504040204" pitchFamily="34" charset="0"/>
              </a:rPr>
              <a:t>Nearest</a:t>
            </a:r>
            <a:r>
              <a:rPr lang="fr-FR" sz="2400" b="1" dirty="0">
                <a:latin typeface="+mn-lt"/>
                <a:ea typeface="Tahoma" panose="020B0604030504040204" pitchFamily="34" charset="0"/>
                <a:cs typeface="Tahoma" panose="020B0604030504040204" pitchFamily="34" charset="0"/>
              </a:rPr>
              <a:t> Neighbors  </a:t>
            </a:r>
            <a:r>
              <a:rPr lang="fr-FR" sz="2400" dirty="0">
                <a:latin typeface="+mn-lt"/>
                <a:ea typeface="Tahoma" panose="020B0604030504040204" pitchFamily="34" charset="0"/>
                <a:cs typeface="Tahoma" panose="020B0604030504040204" pitchFamily="34" charset="0"/>
              </a:rPr>
              <a:t>)</a:t>
            </a:r>
          </a:p>
          <a:p>
            <a:r>
              <a:rPr lang="fr-FR" sz="2400" b="1" i="1" dirty="0">
                <a:latin typeface="+mn-lt"/>
                <a:ea typeface="Tahoma" panose="020B0604030504040204" pitchFamily="34" charset="0"/>
                <a:cs typeface="Tahoma" panose="020B0604030504040204" pitchFamily="34" charset="0"/>
              </a:rPr>
              <a:t>Forêt aléatoire (RF)</a:t>
            </a:r>
            <a:r>
              <a:rPr lang="fr-FR" sz="2400" dirty="0">
                <a:latin typeface="+mn-lt"/>
                <a:ea typeface="Tahoma" panose="020B0604030504040204" pitchFamily="34" charset="0"/>
                <a:cs typeface="Tahoma" panose="020B0604030504040204" pitchFamily="34" charset="0"/>
              </a:rPr>
              <a:t> </a:t>
            </a:r>
          </a:p>
          <a:p>
            <a:r>
              <a:rPr lang="fr-FR" sz="2400" b="1" i="1" dirty="0">
                <a:latin typeface="+mn-lt"/>
                <a:ea typeface="Tahoma" panose="020B0604030504040204" pitchFamily="34" charset="0"/>
                <a:cs typeface="Tahoma" panose="020B0604030504040204" pitchFamily="34" charset="0"/>
              </a:rPr>
              <a:t>Machine à vecteurs de support (SVM</a:t>
            </a:r>
            <a:r>
              <a:rPr lang="fr-FR" sz="2400" i="1" dirty="0">
                <a:latin typeface="+mn-lt"/>
                <a:ea typeface="Tahoma" panose="020B0604030504040204" pitchFamily="34" charset="0"/>
                <a:cs typeface="Tahoma" panose="020B0604030504040204" pitchFamily="34" charset="0"/>
              </a:rPr>
              <a:t>)</a:t>
            </a:r>
            <a:endParaRPr lang="fr-FR" sz="2400" b="1" dirty="0">
              <a:latin typeface="+mn-lt"/>
              <a:ea typeface="Tahoma" panose="020B0604030504040204" pitchFamily="34" charset="0"/>
              <a:cs typeface="Tahoma" panose="020B0604030504040204" pitchFamily="34" charset="0"/>
            </a:endParaRPr>
          </a:p>
          <a:p>
            <a:pPr algn="ctr"/>
            <a:endParaRPr lang="fr-FR" sz="2800" dirty="0">
              <a:latin typeface="Tahoma" panose="020B0604030504040204" pitchFamily="34" charset="0"/>
              <a:ea typeface="Tahoma" panose="020B0604030504040204" pitchFamily="34" charset="0"/>
              <a:cs typeface="Tahoma" panose="020B0604030504040204" pitchFamily="34" charset="0"/>
            </a:endParaRPr>
          </a:p>
          <a:p>
            <a:pPr algn="ctr"/>
            <a:endParaRPr lang="fr-FR" sz="3200" dirty="0">
              <a:latin typeface="Tahoma" panose="020B0604030504040204" pitchFamily="34" charset="0"/>
              <a:ea typeface="Tahoma" panose="020B0604030504040204" pitchFamily="34" charset="0"/>
              <a:cs typeface="Tahoma" panose="020B0604030504040204" pitchFamily="34" charset="0"/>
            </a:endParaRPr>
          </a:p>
          <a:p>
            <a:pPr algn="ctr"/>
            <a:endParaRPr lang="fr-FR" sz="3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35809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ircle(in)">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10200B-EB4F-4D4A-AD91-03E2C2CF3D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810539"/>
            <a:ext cx="12192000" cy="2047460"/>
          </a:xfrm>
          <a:prstGeom prst="rect">
            <a:avLst/>
          </a:prstGeom>
        </p:spPr>
      </p:pic>
      <p:sp>
        <p:nvSpPr>
          <p:cNvPr id="2" name="Title 1">
            <a:extLst>
              <a:ext uri="{FF2B5EF4-FFF2-40B4-BE49-F238E27FC236}">
                <a16:creationId xmlns:a16="http://schemas.microsoft.com/office/drawing/2014/main" id="{A0C290F5-E94E-4066-A822-3910F916AAB3}"/>
              </a:ext>
            </a:extLst>
          </p:cNvPr>
          <p:cNvSpPr>
            <a:spLocks noGrp="1"/>
          </p:cNvSpPr>
          <p:nvPr>
            <p:ph type="title"/>
          </p:nvPr>
        </p:nvSpPr>
        <p:spPr>
          <a:xfrm>
            <a:off x="2001078" y="234443"/>
            <a:ext cx="7797540" cy="812479"/>
          </a:xfrm>
        </p:spPr>
        <p:txBody>
          <a:bodyPr/>
          <a:lstStyle/>
          <a:p>
            <a:pPr algn="ctr"/>
            <a:r>
              <a:rPr lang="fr-FR" sz="4400" b="1" dirty="0"/>
              <a:t>Préparation des données</a:t>
            </a:r>
            <a:br>
              <a:rPr lang="fr-FR" sz="4400" b="1" dirty="0"/>
            </a:br>
            <a:endParaRPr lang="fr-FR" dirty="0"/>
          </a:p>
        </p:txBody>
      </p:sp>
      <p:sp>
        <p:nvSpPr>
          <p:cNvPr id="3" name="Content Placeholder 2">
            <a:extLst>
              <a:ext uri="{FF2B5EF4-FFF2-40B4-BE49-F238E27FC236}">
                <a16:creationId xmlns:a16="http://schemas.microsoft.com/office/drawing/2014/main" id="{F7B8ADE8-F20B-4016-9EB8-AFABBC86101D}"/>
              </a:ext>
            </a:extLst>
          </p:cNvPr>
          <p:cNvSpPr>
            <a:spLocks noGrp="1"/>
          </p:cNvSpPr>
          <p:nvPr>
            <p:ph idx="1"/>
          </p:nvPr>
        </p:nvSpPr>
        <p:spPr>
          <a:xfrm>
            <a:off x="549130" y="1216790"/>
            <a:ext cx="11093740" cy="2212209"/>
          </a:xfrm>
        </p:spPr>
        <p:txBody>
          <a:bodyPr>
            <a:normAutofit fontScale="77500" lnSpcReduction="20000"/>
          </a:bodyPr>
          <a:lstStyle/>
          <a:p>
            <a:r>
              <a:rPr lang="fr-FR" sz="2400" b="1" dirty="0">
                <a:latin typeface="+mn-lt"/>
                <a:ea typeface="Tahoma" panose="020B0604030504040204" pitchFamily="34" charset="0"/>
                <a:cs typeface="Tahoma" panose="020B0604030504040204" pitchFamily="34" charset="0"/>
              </a:rPr>
              <a:t>Pour l’Article on utilise </a:t>
            </a:r>
            <a:r>
              <a:rPr lang="fr-FR" sz="2400" b="1" dirty="0" err="1">
                <a:latin typeface="+mn-lt"/>
                <a:ea typeface="Tahoma" panose="020B0604030504040204" pitchFamily="34" charset="0"/>
                <a:cs typeface="Tahoma" panose="020B0604030504040204" pitchFamily="34" charset="0"/>
              </a:rPr>
              <a:t>Dataset</a:t>
            </a:r>
            <a:r>
              <a:rPr lang="fr-FR" sz="2400" b="1" dirty="0">
                <a:latin typeface="+mn-lt"/>
                <a:ea typeface="Tahoma" panose="020B0604030504040204" pitchFamily="34" charset="0"/>
                <a:cs typeface="Tahoma" panose="020B0604030504040204" pitchFamily="34" charset="0"/>
              </a:rPr>
              <a:t> :</a:t>
            </a:r>
            <a:r>
              <a:rPr lang="fr-FR" dirty="0">
                <a:latin typeface="+mn-lt"/>
              </a:rPr>
              <a:t> </a:t>
            </a:r>
            <a:r>
              <a:rPr lang="fr-FR" sz="2100" b="1" dirty="0">
                <a:latin typeface="+mn-lt"/>
              </a:rPr>
              <a:t>données AD</a:t>
            </a:r>
          </a:p>
          <a:p>
            <a:endParaRPr lang="fr-FR" dirty="0">
              <a:latin typeface="+mn-lt"/>
            </a:endParaRPr>
          </a:p>
          <a:p>
            <a:pPr marL="0" indent="0">
              <a:buNone/>
            </a:pPr>
            <a:r>
              <a:rPr lang="fr-FR" sz="2100" b="1" dirty="0">
                <a:latin typeface="+mn-lt"/>
              </a:rPr>
              <a:t>Pour construire un modèle prédictif, des données open source ont été collectées dans lesquelles cinq étapes d'images de la MA étaient disponibles : Cognitive Normal (CN), Déficience Cognitive Légère Précoce (EMCI), Déficience Cognitive Légère (MCI), Déficience Cognitive Légère Tardive (LMCI) , et AD.</a:t>
            </a:r>
          </a:p>
          <a:p>
            <a:pPr marL="0" indent="0">
              <a:buNone/>
            </a:pPr>
            <a:endParaRPr lang="fr-FR" sz="2100" b="1" dirty="0">
              <a:latin typeface="+mn-lt"/>
            </a:endParaRPr>
          </a:p>
          <a:p>
            <a:pPr marL="0" indent="0">
              <a:buNone/>
            </a:pPr>
            <a:r>
              <a:rPr lang="fr-FR" sz="2100" b="1" dirty="0">
                <a:latin typeface="+mn-lt"/>
              </a:rPr>
              <a:t>Chaque étape de l'AD est considérée comme une classe, puis l'ensemble de données a été divisé en trois  parties</a:t>
            </a:r>
          </a:p>
          <a:p>
            <a:endParaRPr lang="fr-FR" sz="2400" b="1" dirty="0"/>
          </a:p>
          <a:p>
            <a:pPr algn="ctr"/>
            <a:endParaRPr lang="fr-FR" sz="2400" b="1" dirty="0"/>
          </a:p>
          <a:p>
            <a:endParaRPr lang="fr-FR" sz="3200" dirty="0">
              <a:latin typeface="Tahoma" panose="020B0604030504040204" pitchFamily="34" charset="0"/>
              <a:ea typeface="Tahoma" panose="020B0604030504040204" pitchFamily="34" charset="0"/>
              <a:cs typeface="Tahoma" panose="020B0604030504040204" pitchFamily="34" charset="0"/>
            </a:endParaRPr>
          </a:p>
          <a:p>
            <a:endParaRPr lang="fr-FR" sz="3200" dirty="0">
              <a:latin typeface="Tahoma" panose="020B0604030504040204" pitchFamily="34" charset="0"/>
              <a:ea typeface="Tahoma" panose="020B0604030504040204" pitchFamily="34" charset="0"/>
              <a:cs typeface="Tahoma" panose="020B0604030504040204" pitchFamily="34" charset="0"/>
            </a:endParaRPr>
          </a:p>
          <a:p>
            <a:endParaRPr lang="fr-FR" dirty="0"/>
          </a:p>
        </p:txBody>
      </p:sp>
      <p:sp>
        <p:nvSpPr>
          <p:cNvPr id="5" name="Content Placeholder 2">
            <a:extLst>
              <a:ext uri="{FF2B5EF4-FFF2-40B4-BE49-F238E27FC236}">
                <a16:creationId xmlns:a16="http://schemas.microsoft.com/office/drawing/2014/main" id="{E0444A20-D30A-4974-8CEF-3D67865DC866}"/>
              </a:ext>
            </a:extLst>
          </p:cNvPr>
          <p:cNvSpPr txBox="1">
            <a:spLocks/>
          </p:cNvSpPr>
          <p:nvPr/>
        </p:nvSpPr>
        <p:spPr>
          <a:xfrm>
            <a:off x="549130" y="3428999"/>
            <a:ext cx="10171944" cy="1281259"/>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r>
              <a:rPr lang="fr-FR" sz="2200" b="1" dirty="0">
                <a:latin typeface="+mn-lt"/>
                <a:ea typeface="Tahoma" panose="020B0604030504040204" pitchFamily="34" charset="0"/>
                <a:cs typeface="Tahoma" panose="020B0604030504040204" pitchFamily="34" charset="0"/>
              </a:rPr>
              <a:t>Pour notre Test on utilise </a:t>
            </a:r>
            <a:r>
              <a:rPr lang="fr-FR" sz="2200" b="1" dirty="0" err="1">
                <a:latin typeface="+mn-lt"/>
                <a:ea typeface="Tahoma" panose="020B0604030504040204" pitchFamily="34" charset="0"/>
                <a:cs typeface="Tahoma" panose="020B0604030504040204" pitchFamily="34" charset="0"/>
              </a:rPr>
              <a:t>Dataset</a:t>
            </a:r>
            <a:r>
              <a:rPr lang="fr-FR" sz="2200" b="1" dirty="0">
                <a:latin typeface="+mn-lt"/>
                <a:ea typeface="Tahoma" panose="020B0604030504040204" pitchFamily="34" charset="0"/>
                <a:cs typeface="Tahoma" panose="020B0604030504040204" pitchFamily="34" charset="0"/>
              </a:rPr>
              <a:t> </a:t>
            </a:r>
            <a:r>
              <a:rPr lang="fr-FR" b="1" dirty="0">
                <a:latin typeface="+mn-lt"/>
                <a:ea typeface="Tahoma" panose="020B0604030504040204" pitchFamily="34" charset="0"/>
                <a:cs typeface="Tahoma" panose="020B0604030504040204" pitchFamily="34" charset="0"/>
              </a:rPr>
              <a:t>:</a:t>
            </a:r>
            <a:r>
              <a:rPr lang="fr-FR" dirty="0">
                <a:latin typeface="+mn-lt"/>
              </a:rPr>
              <a:t> </a:t>
            </a:r>
            <a:r>
              <a:rPr lang="fr-FR" sz="1900" b="1" dirty="0">
                <a:latin typeface="+mn-lt"/>
              </a:rPr>
              <a:t>données AD</a:t>
            </a:r>
          </a:p>
          <a:p>
            <a:endParaRPr lang="fr-FR" dirty="0">
              <a:latin typeface="+mn-lt"/>
            </a:endParaRPr>
          </a:p>
          <a:p>
            <a:pPr marL="0" indent="0">
              <a:buNone/>
            </a:pPr>
            <a:r>
              <a:rPr lang="fr-FR" sz="1700" b="1" dirty="0">
                <a:latin typeface="+mn-lt"/>
              </a:rPr>
              <a:t>Pour construire un modèle prédictif, des données open source ont été collectées et divisé en quatre parties</a:t>
            </a:r>
          </a:p>
          <a:p>
            <a:endParaRPr lang="fr-FR" sz="2400" b="1" dirty="0"/>
          </a:p>
          <a:p>
            <a:pPr algn="ctr"/>
            <a:endParaRPr lang="fr-FR" sz="2400" b="1" dirty="0"/>
          </a:p>
          <a:p>
            <a:endParaRPr lang="fr-FR" sz="3200" dirty="0">
              <a:latin typeface="Tahoma" panose="020B0604030504040204" pitchFamily="34" charset="0"/>
              <a:ea typeface="Tahoma" panose="020B0604030504040204" pitchFamily="34" charset="0"/>
              <a:cs typeface="Tahoma" panose="020B0604030504040204" pitchFamily="34" charset="0"/>
            </a:endParaRPr>
          </a:p>
          <a:p>
            <a:endParaRPr lang="fr-FR" sz="3200" dirty="0">
              <a:latin typeface="Tahoma" panose="020B0604030504040204" pitchFamily="34" charset="0"/>
              <a:ea typeface="Tahoma" panose="020B0604030504040204" pitchFamily="34" charset="0"/>
              <a:cs typeface="Tahoma" panose="020B0604030504040204" pitchFamily="34" charset="0"/>
            </a:endParaRPr>
          </a:p>
          <a:p>
            <a:endParaRPr lang="fr-FR" dirty="0"/>
          </a:p>
        </p:txBody>
      </p:sp>
    </p:spTree>
    <p:extLst>
      <p:ext uri="{BB962C8B-B14F-4D97-AF65-F5344CB8AC3E}">
        <p14:creationId xmlns:p14="http://schemas.microsoft.com/office/powerpoint/2010/main" val="1245806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circle(in)">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circle(in)">
                                      <p:cBhvr>
                                        <p:cTn id="27" dur="2000"/>
                                        <p:tgtEl>
                                          <p:spTgt spid="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circle(in)">
                                      <p:cBhvr>
                                        <p:cTn id="32" dur="2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253CA36-7A75-485F-9DD5-F6E121B83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691270"/>
            <a:ext cx="12191999" cy="2166727"/>
          </a:xfrm>
          <a:prstGeom prst="rect">
            <a:avLst/>
          </a:prstGeom>
        </p:spPr>
      </p:pic>
      <p:sp>
        <p:nvSpPr>
          <p:cNvPr id="2" name="Title 1">
            <a:extLst>
              <a:ext uri="{FF2B5EF4-FFF2-40B4-BE49-F238E27FC236}">
                <a16:creationId xmlns:a16="http://schemas.microsoft.com/office/drawing/2014/main" id="{7C1B24BC-DC4D-4AC3-AC99-1BBF4D2B0415}"/>
              </a:ext>
            </a:extLst>
          </p:cNvPr>
          <p:cNvSpPr>
            <a:spLocks noGrp="1"/>
          </p:cNvSpPr>
          <p:nvPr>
            <p:ph type="title"/>
          </p:nvPr>
        </p:nvSpPr>
        <p:spPr>
          <a:xfrm>
            <a:off x="1272209" y="596348"/>
            <a:ext cx="9462052" cy="1563756"/>
          </a:xfrm>
        </p:spPr>
        <p:txBody>
          <a:bodyPr/>
          <a:lstStyle/>
          <a:p>
            <a:pPr algn="ctr"/>
            <a:r>
              <a:rPr lang="fr-FR" sz="3200" b="1" dirty="0"/>
              <a:t>Comparaison des  résultats des algorithmes  (CNN et ANN) lors de l’extraction des </a:t>
            </a:r>
            <a:r>
              <a:rPr lang="fr-FR" sz="3200" b="1" dirty="0" err="1"/>
              <a:t>features</a:t>
            </a:r>
            <a:endParaRPr lang="fr-FR" sz="3200" b="1" dirty="0"/>
          </a:p>
        </p:txBody>
      </p:sp>
      <p:sp>
        <p:nvSpPr>
          <p:cNvPr id="3" name="Content Placeholder 2">
            <a:extLst>
              <a:ext uri="{FF2B5EF4-FFF2-40B4-BE49-F238E27FC236}">
                <a16:creationId xmlns:a16="http://schemas.microsoft.com/office/drawing/2014/main" id="{E0AF2755-FB0B-4071-8896-DCE4018B5004}"/>
              </a:ext>
            </a:extLst>
          </p:cNvPr>
          <p:cNvSpPr>
            <a:spLocks noGrp="1"/>
          </p:cNvSpPr>
          <p:nvPr>
            <p:ph idx="1"/>
          </p:nvPr>
        </p:nvSpPr>
        <p:spPr>
          <a:xfrm>
            <a:off x="504788" y="2440746"/>
            <a:ext cx="10692094" cy="1692158"/>
          </a:xfrm>
        </p:spPr>
        <p:txBody>
          <a:bodyPr>
            <a:normAutofit fontScale="77500" lnSpcReduction="20000"/>
          </a:bodyPr>
          <a:lstStyle/>
          <a:p>
            <a:r>
              <a:rPr lang="fr-FR" sz="2800" b="1" dirty="0">
                <a:latin typeface="+mn-lt"/>
                <a:ea typeface="Tahoma" panose="020B0604030504040204" pitchFamily="34" charset="0"/>
                <a:cs typeface="Tahoma" panose="020B0604030504040204" pitchFamily="34" charset="0"/>
              </a:rPr>
              <a:t>Comparaison des algorithmes selon (Performance, Vitesse d'apprentissage , Complexité du modèle ,Généralisation, Interprétabilité, Disponibilité de pré-entraînements, Taille du jeu de données )</a:t>
            </a:r>
          </a:p>
          <a:p>
            <a:pPr marL="0" indent="0">
              <a:buNone/>
            </a:pPr>
            <a:endParaRPr lang="fr-FR" sz="2800" b="1" dirty="0">
              <a:latin typeface="+mn-lt"/>
              <a:ea typeface="Tahoma" panose="020B0604030504040204" pitchFamily="34" charset="0"/>
              <a:cs typeface="Tahoma" panose="020B0604030504040204" pitchFamily="34" charset="0"/>
            </a:endParaRPr>
          </a:p>
          <a:p>
            <a:r>
              <a:rPr lang="fr-FR" sz="2800" b="1" dirty="0" err="1">
                <a:latin typeface="+mn-lt"/>
                <a:ea typeface="Tahoma" panose="020B0604030504040204" pitchFamily="34" charset="0"/>
                <a:cs typeface="Tahoma" panose="020B0604030504040204" pitchFamily="34" charset="0"/>
              </a:rPr>
              <a:t>Accuracy</a:t>
            </a:r>
            <a:r>
              <a:rPr lang="fr-FR" sz="2800" b="1" dirty="0">
                <a:latin typeface="+mn-lt"/>
                <a:ea typeface="Tahoma" panose="020B0604030504040204" pitchFamily="34" charset="0"/>
                <a:cs typeface="Tahoma" panose="020B0604030504040204" pitchFamily="34" charset="0"/>
              </a:rPr>
              <a:t> , </a:t>
            </a:r>
            <a:r>
              <a:rPr lang="fr-FR" sz="2800" b="1" dirty="0" err="1">
                <a:latin typeface="+mn-lt"/>
                <a:ea typeface="Tahoma" panose="020B0604030504040204" pitchFamily="34" charset="0"/>
                <a:cs typeface="Tahoma" panose="020B0604030504040204" pitchFamily="34" charset="0"/>
              </a:rPr>
              <a:t>Loss</a:t>
            </a:r>
            <a:r>
              <a:rPr lang="fr-FR" sz="2800" b="1" dirty="0">
                <a:latin typeface="+mn-lt"/>
                <a:ea typeface="Tahoma" panose="020B0604030504040204" pitchFamily="34" charset="0"/>
                <a:cs typeface="Tahoma" panose="020B0604030504040204" pitchFamily="34" charset="0"/>
              </a:rPr>
              <a:t>, Matrix de </a:t>
            </a:r>
            <a:r>
              <a:rPr lang="fr-FR" sz="2800" b="1" dirty="0" err="1">
                <a:latin typeface="+mn-lt"/>
                <a:ea typeface="Tahoma" panose="020B0604030504040204" pitchFamily="34" charset="0"/>
                <a:cs typeface="Tahoma" panose="020B0604030504040204" pitchFamily="34" charset="0"/>
              </a:rPr>
              <a:t>Confusion,Recall</a:t>
            </a:r>
            <a:r>
              <a:rPr lang="fr-FR" sz="2800" b="1" dirty="0">
                <a:latin typeface="+mn-lt"/>
                <a:ea typeface="Tahoma" panose="020B0604030504040204" pitchFamily="34" charset="0"/>
                <a:cs typeface="Tahoma" panose="020B0604030504040204" pitchFamily="34" charset="0"/>
              </a:rPr>
              <a:t> , Precision,F1 score</a:t>
            </a:r>
          </a:p>
          <a:p>
            <a:endParaRPr lang="fr-FR" sz="2400" dirty="0">
              <a:latin typeface="Tahoma" panose="020B0604030504040204" pitchFamily="34" charset="0"/>
              <a:ea typeface="Tahoma" panose="020B0604030504040204" pitchFamily="34" charset="0"/>
              <a:cs typeface="Tahoma" panose="020B0604030504040204" pitchFamily="34" charset="0"/>
            </a:endParaRPr>
          </a:p>
          <a:p>
            <a:endParaRPr lang="fr-FR" sz="2400" dirty="0"/>
          </a:p>
          <a:p>
            <a:endParaRPr lang="fr-FR" dirty="0"/>
          </a:p>
        </p:txBody>
      </p:sp>
    </p:spTree>
    <p:extLst>
      <p:ext uri="{BB962C8B-B14F-4D97-AF65-F5344CB8AC3E}">
        <p14:creationId xmlns:p14="http://schemas.microsoft.com/office/powerpoint/2010/main" val="1321051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253CA36-7A75-485F-9DD5-F6E121B83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17254"/>
            <a:ext cx="12191999" cy="2440743"/>
          </a:xfrm>
          <a:prstGeom prst="rect">
            <a:avLst/>
          </a:prstGeom>
        </p:spPr>
      </p:pic>
      <p:sp>
        <p:nvSpPr>
          <p:cNvPr id="2" name="Title 1">
            <a:extLst>
              <a:ext uri="{FF2B5EF4-FFF2-40B4-BE49-F238E27FC236}">
                <a16:creationId xmlns:a16="http://schemas.microsoft.com/office/drawing/2014/main" id="{7C1B24BC-DC4D-4AC3-AC99-1BBF4D2B0415}"/>
              </a:ext>
            </a:extLst>
          </p:cNvPr>
          <p:cNvSpPr>
            <a:spLocks noGrp="1"/>
          </p:cNvSpPr>
          <p:nvPr>
            <p:ph type="title"/>
          </p:nvPr>
        </p:nvSpPr>
        <p:spPr>
          <a:xfrm>
            <a:off x="969817" y="596348"/>
            <a:ext cx="9459644" cy="1121616"/>
          </a:xfrm>
        </p:spPr>
        <p:txBody>
          <a:bodyPr/>
          <a:lstStyle/>
          <a:p>
            <a:pPr algn="ctr"/>
            <a:r>
              <a:rPr lang="fr-FR" sz="3200" b="1" dirty="0"/>
              <a:t>Comparaison des  résultats des algorithmes KNN,SVM et RF</a:t>
            </a:r>
          </a:p>
        </p:txBody>
      </p:sp>
      <p:sp>
        <p:nvSpPr>
          <p:cNvPr id="3" name="Content Placeholder 2">
            <a:extLst>
              <a:ext uri="{FF2B5EF4-FFF2-40B4-BE49-F238E27FC236}">
                <a16:creationId xmlns:a16="http://schemas.microsoft.com/office/drawing/2014/main" id="{E0AF2755-FB0B-4071-8896-DCE4018B5004}"/>
              </a:ext>
            </a:extLst>
          </p:cNvPr>
          <p:cNvSpPr>
            <a:spLocks noGrp="1"/>
          </p:cNvSpPr>
          <p:nvPr>
            <p:ph idx="1"/>
          </p:nvPr>
        </p:nvSpPr>
        <p:spPr>
          <a:xfrm>
            <a:off x="450574" y="1885927"/>
            <a:ext cx="10827026" cy="2012645"/>
          </a:xfrm>
        </p:spPr>
        <p:txBody>
          <a:bodyPr>
            <a:normAutofit fontScale="92500" lnSpcReduction="10000"/>
          </a:bodyPr>
          <a:lstStyle/>
          <a:p>
            <a:r>
              <a:rPr lang="fr-FR" sz="2800" b="1" dirty="0">
                <a:latin typeface="+mn-lt"/>
                <a:ea typeface="Tahoma" panose="020B0604030504040204" pitchFamily="34" charset="0"/>
                <a:cs typeface="Tahoma" panose="020B0604030504040204" pitchFamily="34" charset="0"/>
              </a:rPr>
              <a:t>Comparaison des algorithmes selon (Performance, Vitesse d'apprentissage , Complexité du modèle ,Généralisation, Interprétabilité, Disponibilité de pré-entraînements, Taille du jeu de données )</a:t>
            </a:r>
          </a:p>
          <a:p>
            <a:r>
              <a:rPr lang="fr-FR" sz="2800" b="1" dirty="0" err="1">
                <a:latin typeface="+mn-lt"/>
                <a:ea typeface="Tahoma" panose="020B0604030504040204" pitchFamily="34" charset="0"/>
                <a:cs typeface="Tahoma" panose="020B0604030504040204" pitchFamily="34" charset="0"/>
              </a:rPr>
              <a:t>Accuracy,Matrix</a:t>
            </a:r>
            <a:r>
              <a:rPr lang="fr-FR" sz="2800" b="1" dirty="0">
                <a:latin typeface="+mn-lt"/>
                <a:ea typeface="Tahoma" panose="020B0604030504040204" pitchFamily="34" charset="0"/>
                <a:cs typeface="Tahoma" panose="020B0604030504040204" pitchFamily="34" charset="0"/>
              </a:rPr>
              <a:t> de Confusion,Recall,Precision,F1 score</a:t>
            </a:r>
          </a:p>
          <a:p>
            <a:endParaRPr lang="fr-FR" sz="2400" dirty="0">
              <a:latin typeface="Tahoma" panose="020B0604030504040204" pitchFamily="34" charset="0"/>
              <a:ea typeface="Tahoma" panose="020B0604030504040204" pitchFamily="34" charset="0"/>
              <a:cs typeface="Tahoma" panose="020B0604030504040204" pitchFamily="34" charset="0"/>
            </a:endParaRPr>
          </a:p>
          <a:p>
            <a:endParaRPr lang="fr-FR" sz="2400" dirty="0"/>
          </a:p>
          <a:p>
            <a:endParaRPr lang="fr-FR" dirty="0"/>
          </a:p>
        </p:txBody>
      </p:sp>
    </p:spTree>
    <p:extLst>
      <p:ext uri="{BB962C8B-B14F-4D97-AF65-F5344CB8AC3E}">
        <p14:creationId xmlns:p14="http://schemas.microsoft.com/office/powerpoint/2010/main" val="3165285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CFA5A9-6D90-4A63-B5F0-FD60A4743020}"/>
              </a:ext>
            </a:extLst>
          </p:cNvPr>
          <p:cNvSpPr>
            <a:spLocks noGrp="1"/>
          </p:cNvSpPr>
          <p:nvPr>
            <p:ph idx="1"/>
          </p:nvPr>
        </p:nvSpPr>
        <p:spPr>
          <a:xfrm>
            <a:off x="1103312" y="692727"/>
            <a:ext cx="8946541" cy="5555673"/>
          </a:xfrm>
        </p:spPr>
        <p:txBody>
          <a:bodyPr>
            <a:normAutofit fontScale="85000" lnSpcReduction="10000"/>
          </a:bodyPr>
          <a:lstStyle/>
          <a:p>
            <a:r>
              <a:rPr lang="fr-FR" sz="2100" b="1" i="1" dirty="0"/>
              <a:t>Réseau neuronal convolutif (CNN):</a:t>
            </a:r>
            <a:r>
              <a:rPr lang="fr-FR" sz="2100" dirty="0"/>
              <a:t> est un type de réseau de neurones qui fonctionne sur la base d'une structure de rétroaction et est largement utilisé dans les applications de vision par ordinateur, en particulier dans la classification et la reconnaissance d'images. Son inspiration biologique est le traitement visuel complexe des mammifères</a:t>
            </a:r>
            <a:endParaRPr lang="fr-FR" sz="2100" b="1" dirty="0"/>
          </a:p>
          <a:p>
            <a:r>
              <a:rPr lang="fr-FR" sz="2100" b="1" dirty="0"/>
              <a:t>KNN(K-</a:t>
            </a:r>
            <a:r>
              <a:rPr lang="fr-FR" sz="2100" b="1" dirty="0" err="1"/>
              <a:t>Nearest</a:t>
            </a:r>
            <a:r>
              <a:rPr lang="fr-FR" sz="2100" b="1" dirty="0"/>
              <a:t> Neighbors </a:t>
            </a:r>
            <a:r>
              <a:rPr lang="fr-FR" sz="2100" dirty="0"/>
              <a:t>): est utilisé pour la classification et la régression. Il est également connu sous le nom d’algorithme d’apprentissage paresseux car il n’apprend pas instantanément de l’ensemble de formation, cet  algorithme compare les fonctionnalités d'une instance avec des exemples précédemment étiquetés et calcule la proximité des fonctionnalités</a:t>
            </a:r>
          </a:p>
          <a:p>
            <a:r>
              <a:rPr lang="fr-FR" sz="2100" b="1" i="1" dirty="0"/>
              <a:t>Forêt aléatoire (RF):</a:t>
            </a:r>
            <a:r>
              <a:rPr lang="fr-FR" sz="2100" dirty="0"/>
              <a:t> modèle d'ensemble et construit plusieurs arbres de décision pour s'entraîner séparément sur des ensembles de données distincts</a:t>
            </a:r>
          </a:p>
          <a:p>
            <a:r>
              <a:rPr lang="fr-FR" sz="2100" b="1" i="1" dirty="0"/>
              <a:t>Machine à vecteurs de support (SVM</a:t>
            </a:r>
            <a:r>
              <a:rPr lang="fr-FR" sz="2100" i="1" dirty="0"/>
              <a:t>):</a:t>
            </a:r>
            <a:r>
              <a:rPr lang="fr-FR" sz="2100" dirty="0"/>
              <a:t> est un algorithme d'apprentissage automatique qui fonctionne sur les instances de données de formation pour s'adapter à un modèle généralisé qui fonctionne bien sur les instances de test</a:t>
            </a:r>
          </a:p>
          <a:p>
            <a:r>
              <a:rPr lang="fr-FR" sz="2100" b="1" i="1" dirty="0"/>
              <a:t>Réseau neuronal artificiel (ANN):</a:t>
            </a:r>
            <a:r>
              <a:rPr lang="fr-FR" sz="2100" dirty="0"/>
              <a:t> sont dérivés de l'apprentissage automatique qui produit des modèles de traitement des données et de création de modèles d'apprentissage automatique efficaces et robustes</a:t>
            </a:r>
            <a:endParaRPr lang="fr-FR" sz="2100" b="1" dirty="0"/>
          </a:p>
          <a:p>
            <a:endParaRPr lang="fr-FR" dirty="0"/>
          </a:p>
        </p:txBody>
      </p:sp>
    </p:spTree>
    <p:extLst>
      <p:ext uri="{BB962C8B-B14F-4D97-AF65-F5344CB8AC3E}">
        <p14:creationId xmlns:p14="http://schemas.microsoft.com/office/powerpoint/2010/main" val="1059111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7F303ED-AA86-4E28-8E03-E2441A1C62E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5553"/>
          <a:stretch/>
        </p:blipFill>
        <p:spPr>
          <a:xfrm>
            <a:off x="715617" y="1492697"/>
            <a:ext cx="10442713" cy="5053878"/>
          </a:xfrm>
        </p:spPr>
      </p:pic>
      <p:sp>
        <p:nvSpPr>
          <p:cNvPr id="3" name="Rectangle 1">
            <a:extLst>
              <a:ext uri="{FF2B5EF4-FFF2-40B4-BE49-F238E27FC236}">
                <a16:creationId xmlns:a16="http://schemas.microsoft.com/office/drawing/2014/main" id="{4B6F21C0-EDB4-4A9F-AAD6-F86EF8405596}"/>
              </a:ext>
            </a:extLst>
          </p:cNvPr>
          <p:cNvSpPr>
            <a:spLocks noChangeArrowheads="1"/>
          </p:cNvSpPr>
          <p:nvPr/>
        </p:nvSpPr>
        <p:spPr bwMode="auto">
          <a:xfrm>
            <a:off x="0" y="107728"/>
            <a:ext cx="65" cy="24174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7457" rIns="0" bIns="-1745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3EF54A89-7993-4005-8B27-389089BBC572}"/>
              </a:ext>
            </a:extLst>
          </p:cNvPr>
          <p:cNvSpPr/>
          <p:nvPr/>
        </p:nvSpPr>
        <p:spPr>
          <a:xfrm>
            <a:off x="1656521" y="349472"/>
            <a:ext cx="8560903" cy="923330"/>
          </a:xfrm>
          <a:prstGeom prst="rect">
            <a:avLst/>
          </a:prstGeom>
        </p:spPr>
        <p:txBody>
          <a:bodyPr wrap="square">
            <a:spAutoFit/>
          </a:bodyPr>
          <a:lstStyle/>
          <a:p>
            <a:pPr algn="ctr"/>
            <a:r>
              <a:rPr lang="fr-FR" altLang="fr-FR" sz="2000" b="1" dirty="0">
                <a:latin typeface="inherit"/>
              </a:rPr>
              <a:t>Comparaison Des Performances entre Tous Les Classificateurs Appliqués Pour Cinq </a:t>
            </a:r>
            <a:r>
              <a:rPr lang="fr-FR" sz="2000" b="1" dirty="0"/>
              <a:t>Class label </a:t>
            </a:r>
            <a:r>
              <a:rPr lang="fr-FR" sz="2000" b="1" dirty="0" err="1"/>
              <a:t>Datasets</a:t>
            </a:r>
            <a:endParaRPr lang="fr-FR" sz="2000" b="1" dirty="0"/>
          </a:p>
          <a:p>
            <a:endParaRPr lang="fr-FR" altLang="fr-FR" sz="1400" dirty="0">
              <a:latin typeface="Arial" panose="020B0604020202020204" pitchFamily="34" charset="0"/>
            </a:endParaRPr>
          </a:p>
        </p:txBody>
      </p:sp>
    </p:spTree>
    <p:extLst>
      <p:ext uri="{BB962C8B-B14F-4D97-AF65-F5344CB8AC3E}">
        <p14:creationId xmlns:p14="http://schemas.microsoft.com/office/powerpoint/2010/main" val="1703662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C4E52DE-3DF9-44FC-9720-EFA850B636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4183" y="1260764"/>
            <a:ext cx="10557162" cy="4724399"/>
          </a:xfrm>
        </p:spPr>
      </p:pic>
      <p:sp>
        <p:nvSpPr>
          <p:cNvPr id="2" name="Rectangle 1">
            <a:extLst>
              <a:ext uri="{FF2B5EF4-FFF2-40B4-BE49-F238E27FC236}">
                <a16:creationId xmlns:a16="http://schemas.microsoft.com/office/drawing/2014/main" id="{8317E953-A852-4306-A75A-0E3A7E3C4935}"/>
              </a:ext>
            </a:extLst>
          </p:cNvPr>
          <p:cNvSpPr/>
          <p:nvPr/>
        </p:nvSpPr>
        <p:spPr>
          <a:xfrm>
            <a:off x="2305878" y="442148"/>
            <a:ext cx="7447722" cy="646331"/>
          </a:xfrm>
          <a:prstGeom prst="rect">
            <a:avLst/>
          </a:prstGeom>
        </p:spPr>
        <p:txBody>
          <a:bodyPr wrap="square">
            <a:spAutoFit/>
          </a:bodyPr>
          <a:lstStyle/>
          <a:p>
            <a:pPr algn="ctr"/>
            <a:r>
              <a:rPr lang="fr-FR" altLang="fr-FR" b="1" dirty="0">
                <a:latin typeface="inherit"/>
              </a:rPr>
              <a:t>Comparaison des Performances entre tous les Classificateurs Appliqués pour Cinq </a:t>
            </a:r>
            <a:r>
              <a:rPr lang="fr-FR" b="1" dirty="0"/>
              <a:t>class label </a:t>
            </a:r>
            <a:r>
              <a:rPr lang="fr-FR" b="1" dirty="0" err="1"/>
              <a:t>Datasets</a:t>
            </a:r>
            <a:endParaRPr lang="fr-FR" b="1" dirty="0"/>
          </a:p>
        </p:txBody>
      </p:sp>
    </p:spTree>
    <p:extLst>
      <p:ext uri="{BB962C8B-B14F-4D97-AF65-F5344CB8AC3E}">
        <p14:creationId xmlns:p14="http://schemas.microsoft.com/office/powerpoint/2010/main" val="386279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ircle(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EA21915-3277-4A79-8751-1857CF8D6E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7744" y="1470991"/>
            <a:ext cx="9760829" cy="4558748"/>
          </a:xfrm>
        </p:spPr>
      </p:pic>
      <p:sp>
        <p:nvSpPr>
          <p:cNvPr id="2" name="TextBox 1">
            <a:extLst>
              <a:ext uri="{FF2B5EF4-FFF2-40B4-BE49-F238E27FC236}">
                <a16:creationId xmlns:a16="http://schemas.microsoft.com/office/drawing/2014/main" id="{30BA9180-3472-4641-82EE-0E49176B4049}"/>
              </a:ext>
            </a:extLst>
          </p:cNvPr>
          <p:cNvSpPr txBox="1"/>
          <p:nvPr/>
        </p:nvSpPr>
        <p:spPr>
          <a:xfrm>
            <a:off x="1914939" y="576470"/>
            <a:ext cx="8362122" cy="707886"/>
          </a:xfrm>
          <a:prstGeom prst="rect">
            <a:avLst/>
          </a:prstGeom>
          <a:noFill/>
        </p:spPr>
        <p:txBody>
          <a:bodyPr wrap="square" rtlCol="0">
            <a:spAutoFit/>
          </a:bodyPr>
          <a:lstStyle/>
          <a:p>
            <a:pPr lvl="0" algn="ctr" defTabSz="914400" eaLnBrk="0" fontAlgn="base" hangingPunct="0">
              <a:spcBef>
                <a:spcPct val="0"/>
              </a:spcBef>
              <a:spcAft>
                <a:spcPct val="0"/>
              </a:spcAft>
            </a:pPr>
            <a:r>
              <a:rPr lang="fr-FR" altLang="fr-FR" sz="2000" b="1" dirty="0">
                <a:latin typeface="inherit"/>
              </a:rPr>
              <a:t>Comparaison des Performances de la Modèle proposé avec les Modèles existants</a:t>
            </a:r>
            <a:r>
              <a:rPr lang="fr-FR" altLang="fr-FR" sz="2000" b="1" dirty="0"/>
              <a:t> </a:t>
            </a:r>
            <a:endParaRPr lang="fr-FR" altLang="fr-FR" sz="2000" b="1" dirty="0">
              <a:latin typeface="Arial" panose="020B0604020202020204" pitchFamily="34" charset="0"/>
            </a:endParaRPr>
          </a:p>
        </p:txBody>
      </p:sp>
      <p:sp>
        <p:nvSpPr>
          <p:cNvPr id="3" name="Rectangle 1">
            <a:extLst>
              <a:ext uri="{FF2B5EF4-FFF2-40B4-BE49-F238E27FC236}">
                <a16:creationId xmlns:a16="http://schemas.microsoft.com/office/drawing/2014/main" id="{3123E3B4-E6E7-4111-8BE7-0FDD179847E9}"/>
              </a:ext>
            </a:extLst>
          </p:cNvPr>
          <p:cNvSpPr>
            <a:spLocks noChangeArrowheads="1"/>
          </p:cNvSpPr>
          <p:nvPr/>
        </p:nvSpPr>
        <p:spPr bwMode="auto">
          <a:xfrm>
            <a:off x="-145774" y="107728"/>
            <a:ext cx="65" cy="24174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7457" rIns="0" bIns="-1745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30997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0504672-C698-47C0-8517-0C792B1E50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6583" y="1163782"/>
            <a:ext cx="10404762" cy="4793673"/>
          </a:xfrm>
        </p:spPr>
      </p:pic>
    </p:spTree>
    <p:extLst>
      <p:ext uri="{BB962C8B-B14F-4D97-AF65-F5344CB8AC3E}">
        <p14:creationId xmlns:p14="http://schemas.microsoft.com/office/powerpoint/2010/main" val="1857873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146C46-7DD6-471A-9A7A-6066688ABB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DD714D3A-9313-43F2-BB06-1773A563710B}"/>
              </a:ext>
            </a:extLst>
          </p:cNvPr>
          <p:cNvSpPr>
            <a:spLocks noGrp="1"/>
          </p:cNvSpPr>
          <p:nvPr>
            <p:ph type="ctrTitle"/>
          </p:nvPr>
        </p:nvSpPr>
        <p:spPr>
          <a:xfrm>
            <a:off x="4375052" y="2017348"/>
            <a:ext cx="4107767" cy="801859"/>
          </a:xfrm>
        </p:spPr>
        <p:txBody>
          <a:bodyPr/>
          <a:lstStyle/>
          <a:p>
            <a:pPr algn="ctr"/>
            <a:r>
              <a:rPr lang="fr-FR" sz="2400" b="1" dirty="0"/>
              <a:t>Problèmes abordée de l’algorithme</a:t>
            </a:r>
            <a:endParaRPr lang="fr-FR" sz="2400" dirty="0"/>
          </a:p>
        </p:txBody>
      </p:sp>
    </p:spTree>
    <p:extLst>
      <p:ext uri="{BB962C8B-B14F-4D97-AF65-F5344CB8AC3E}">
        <p14:creationId xmlns:p14="http://schemas.microsoft.com/office/powerpoint/2010/main" val="2802956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59BBF0-55C8-446D-8518-368A547B4A94}"/>
              </a:ext>
            </a:extLst>
          </p:cNvPr>
          <p:cNvSpPr>
            <a:spLocks noGrp="1"/>
          </p:cNvSpPr>
          <p:nvPr>
            <p:ph idx="1"/>
          </p:nvPr>
        </p:nvSpPr>
        <p:spPr>
          <a:xfrm>
            <a:off x="526474" y="1569493"/>
            <a:ext cx="10446326" cy="4394579"/>
          </a:xfrm>
        </p:spPr>
        <p:txBody>
          <a:bodyPr>
            <a:normAutofit/>
          </a:bodyPr>
          <a:lstStyle/>
          <a:p>
            <a:r>
              <a:rPr lang="fr-FR" sz="1800" b="1" dirty="0"/>
              <a:t>Généralisation</a:t>
            </a:r>
          </a:p>
          <a:p>
            <a:r>
              <a:rPr lang="fr-FR" sz="1800" b="1" dirty="0"/>
              <a:t>Interprétabilité</a:t>
            </a:r>
          </a:p>
          <a:p>
            <a:r>
              <a:rPr lang="fr-FR" sz="1800" b="1" dirty="0"/>
              <a:t>Disponibilité de pré-entraînements </a:t>
            </a:r>
          </a:p>
          <a:p>
            <a:r>
              <a:rPr lang="fr-FR" sz="1800" b="1" dirty="0"/>
              <a:t>Taille du jeu de données </a:t>
            </a:r>
          </a:p>
          <a:p>
            <a:r>
              <a:rPr lang="fr-FR" sz="1800" b="1" dirty="0"/>
              <a:t>Surapprentissage (</a:t>
            </a:r>
            <a:r>
              <a:rPr lang="fr-FR" sz="1800" b="1" dirty="0" err="1"/>
              <a:t>Overfitting</a:t>
            </a:r>
            <a:r>
              <a:rPr lang="fr-FR" sz="1800" b="1" dirty="0"/>
              <a:t>) ,ou </a:t>
            </a:r>
            <a:r>
              <a:rPr lang="fr-FR" sz="1800" b="1" dirty="0" err="1"/>
              <a:t>under</a:t>
            </a:r>
            <a:endParaRPr lang="fr-FR" sz="1800" b="1" dirty="0"/>
          </a:p>
          <a:p>
            <a:r>
              <a:rPr lang="fr-FR" sz="1800" b="1" dirty="0"/>
              <a:t>Manque de données </a:t>
            </a:r>
          </a:p>
          <a:p>
            <a:r>
              <a:rPr lang="fr-FR" sz="1800" b="1" dirty="0"/>
              <a:t>Explicabilité </a:t>
            </a:r>
          </a:p>
          <a:p>
            <a:r>
              <a:rPr lang="fr-FR" sz="1800" b="1" dirty="0"/>
              <a:t>Temps d'entraînement </a:t>
            </a:r>
          </a:p>
          <a:p>
            <a:r>
              <a:rPr lang="fr-FR" sz="1800" b="1" dirty="0"/>
              <a:t>Initialisation difficile </a:t>
            </a:r>
          </a:p>
          <a:p>
            <a:r>
              <a:rPr lang="fr-FR" sz="1800" b="1" dirty="0"/>
              <a:t>Architecture du réseau </a:t>
            </a:r>
          </a:p>
          <a:p>
            <a:r>
              <a:rPr lang="fr-FR" sz="1800" b="1" dirty="0"/>
              <a:t>Exploration de l'espace des hyperparamètres</a:t>
            </a:r>
          </a:p>
        </p:txBody>
      </p:sp>
      <p:sp>
        <p:nvSpPr>
          <p:cNvPr id="2" name="TextBox 1">
            <a:extLst>
              <a:ext uri="{FF2B5EF4-FFF2-40B4-BE49-F238E27FC236}">
                <a16:creationId xmlns:a16="http://schemas.microsoft.com/office/drawing/2014/main" id="{E243A2B4-8BCF-4EA6-B168-B27A0084295A}"/>
              </a:ext>
            </a:extLst>
          </p:cNvPr>
          <p:cNvSpPr txBox="1"/>
          <p:nvPr/>
        </p:nvSpPr>
        <p:spPr>
          <a:xfrm>
            <a:off x="2002462" y="555374"/>
            <a:ext cx="7820167" cy="677108"/>
          </a:xfrm>
          <a:prstGeom prst="rect">
            <a:avLst/>
          </a:prstGeom>
          <a:noFill/>
        </p:spPr>
        <p:txBody>
          <a:bodyPr wrap="square" rtlCol="0">
            <a:spAutoFit/>
          </a:bodyPr>
          <a:lstStyle/>
          <a:p>
            <a:pPr algn="ctr"/>
            <a:r>
              <a:rPr lang="fr-FR" sz="2000" b="1" dirty="0"/>
              <a:t>Notion Générale sur les problèmes  abordée de l’algorithme</a:t>
            </a:r>
          </a:p>
          <a:p>
            <a:endParaRPr lang="fr-FR" dirty="0"/>
          </a:p>
        </p:txBody>
      </p:sp>
    </p:spTree>
    <p:extLst>
      <p:ext uri="{BB962C8B-B14F-4D97-AF65-F5344CB8AC3E}">
        <p14:creationId xmlns:p14="http://schemas.microsoft.com/office/powerpoint/2010/main" val="331819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fade">
                                      <p:cBhvr>
                                        <p:cTn id="47" dur="1000"/>
                                        <p:tgtEl>
                                          <p:spTgt spid="3">
                                            <p:txEl>
                                              <p:pRg st="5" end="5"/>
                                            </p:txEl>
                                          </p:spTgt>
                                        </p:tgtEl>
                                      </p:cBhvr>
                                    </p:animEffect>
                                    <p:anim calcmode="lin" valueType="num">
                                      <p:cBhvr>
                                        <p:cTn id="4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3">
                                            <p:txEl>
                                              <p:pRg st="6" end="6"/>
                                            </p:txEl>
                                          </p:spTgt>
                                        </p:tgtEl>
                                        <p:attrNameLst>
                                          <p:attrName>style.visibility</p:attrName>
                                        </p:attrNameLst>
                                      </p:cBhvr>
                                      <p:to>
                                        <p:strVal val="visible"/>
                                      </p:to>
                                    </p:set>
                                    <p:animEffect transition="in" filter="fade">
                                      <p:cBhvr>
                                        <p:cTn id="54" dur="1000"/>
                                        <p:tgtEl>
                                          <p:spTgt spid="3">
                                            <p:txEl>
                                              <p:pRg st="6" end="6"/>
                                            </p:txEl>
                                          </p:spTgt>
                                        </p:tgtEl>
                                      </p:cBhvr>
                                    </p:animEffect>
                                    <p:anim calcmode="lin" valueType="num">
                                      <p:cBhvr>
                                        <p:cTn id="5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3">
                                            <p:txEl>
                                              <p:pRg st="7" end="7"/>
                                            </p:txEl>
                                          </p:spTgt>
                                        </p:tgtEl>
                                        <p:attrNameLst>
                                          <p:attrName>style.visibility</p:attrName>
                                        </p:attrNameLst>
                                      </p:cBhvr>
                                      <p:to>
                                        <p:strVal val="visible"/>
                                      </p:to>
                                    </p:set>
                                    <p:animEffect transition="in" filter="fade">
                                      <p:cBhvr>
                                        <p:cTn id="61" dur="1000"/>
                                        <p:tgtEl>
                                          <p:spTgt spid="3">
                                            <p:txEl>
                                              <p:pRg st="7" end="7"/>
                                            </p:txEl>
                                          </p:spTgt>
                                        </p:tgtEl>
                                      </p:cBhvr>
                                    </p:animEffect>
                                    <p:anim calcmode="lin" valueType="num">
                                      <p:cBhvr>
                                        <p:cTn id="6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3">
                                            <p:txEl>
                                              <p:pRg st="8" end="8"/>
                                            </p:txEl>
                                          </p:spTgt>
                                        </p:tgtEl>
                                        <p:attrNameLst>
                                          <p:attrName>style.visibility</p:attrName>
                                        </p:attrNameLst>
                                      </p:cBhvr>
                                      <p:to>
                                        <p:strVal val="visible"/>
                                      </p:to>
                                    </p:set>
                                    <p:animEffect transition="in" filter="fade">
                                      <p:cBhvr>
                                        <p:cTn id="68" dur="1000"/>
                                        <p:tgtEl>
                                          <p:spTgt spid="3">
                                            <p:txEl>
                                              <p:pRg st="8" end="8"/>
                                            </p:txEl>
                                          </p:spTgt>
                                        </p:tgtEl>
                                      </p:cBhvr>
                                    </p:animEffect>
                                    <p:anim calcmode="lin" valueType="num">
                                      <p:cBhvr>
                                        <p:cTn id="69"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0"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3">
                                            <p:txEl>
                                              <p:pRg st="9" end="9"/>
                                            </p:txEl>
                                          </p:spTgt>
                                        </p:tgtEl>
                                        <p:attrNameLst>
                                          <p:attrName>style.visibility</p:attrName>
                                        </p:attrNameLst>
                                      </p:cBhvr>
                                      <p:to>
                                        <p:strVal val="visible"/>
                                      </p:to>
                                    </p:set>
                                    <p:animEffect transition="in" filter="fade">
                                      <p:cBhvr>
                                        <p:cTn id="75" dur="1000"/>
                                        <p:tgtEl>
                                          <p:spTgt spid="3">
                                            <p:txEl>
                                              <p:pRg st="9" end="9"/>
                                            </p:txEl>
                                          </p:spTgt>
                                        </p:tgtEl>
                                      </p:cBhvr>
                                    </p:animEffect>
                                    <p:anim calcmode="lin" valueType="num">
                                      <p:cBhvr>
                                        <p:cTn id="76"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7"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3">
                                            <p:txEl>
                                              <p:pRg st="10" end="10"/>
                                            </p:txEl>
                                          </p:spTgt>
                                        </p:tgtEl>
                                        <p:attrNameLst>
                                          <p:attrName>style.visibility</p:attrName>
                                        </p:attrNameLst>
                                      </p:cBhvr>
                                      <p:to>
                                        <p:strVal val="visible"/>
                                      </p:to>
                                    </p:set>
                                    <p:animEffect transition="in" filter="fade">
                                      <p:cBhvr>
                                        <p:cTn id="82" dur="1000"/>
                                        <p:tgtEl>
                                          <p:spTgt spid="3">
                                            <p:txEl>
                                              <p:pRg st="10" end="10"/>
                                            </p:txEl>
                                          </p:spTgt>
                                        </p:tgtEl>
                                      </p:cBhvr>
                                    </p:animEffect>
                                    <p:anim calcmode="lin" valueType="num">
                                      <p:cBhvr>
                                        <p:cTn id="8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84"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C7BAF7-D92B-4E9F-83B4-D6C029AB7F61}"/>
              </a:ext>
            </a:extLst>
          </p:cNvPr>
          <p:cNvSpPr>
            <a:spLocks noGrp="1"/>
          </p:cNvSpPr>
          <p:nvPr>
            <p:ph idx="1"/>
          </p:nvPr>
        </p:nvSpPr>
        <p:spPr>
          <a:xfrm>
            <a:off x="149029" y="1222512"/>
            <a:ext cx="6954135" cy="5019261"/>
          </a:xfrm>
        </p:spPr>
        <p:txBody>
          <a:bodyPr>
            <a:noAutofit/>
          </a:bodyPr>
          <a:lstStyle/>
          <a:p>
            <a:pPr marL="0" indent="0">
              <a:buNone/>
            </a:pPr>
            <a:r>
              <a:rPr lang="fr-FR" sz="2700" b="1" dirty="0">
                <a:latin typeface="+mn-lt"/>
                <a:ea typeface="Tahoma" panose="020B0604030504040204" pitchFamily="34" charset="0"/>
                <a:cs typeface="Tahoma" panose="020B0604030504040204" pitchFamily="34" charset="0"/>
              </a:rPr>
              <a:t>Pour cet article on a besoin d'utilisation :</a:t>
            </a:r>
          </a:p>
          <a:p>
            <a:pPr marL="0" indent="0">
              <a:buNone/>
            </a:pPr>
            <a:endParaRPr lang="fr-FR" sz="2700" b="1" dirty="0">
              <a:latin typeface="+mn-lt"/>
              <a:ea typeface="Tahoma" panose="020B0604030504040204" pitchFamily="34" charset="0"/>
              <a:cs typeface="Tahoma" panose="020B0604030504040204" pitchFamily="34" charset="0"/>
            </a:endParaRPr>
          </a:p>
          <a:p>
            <a:r>
              <a:rPr lang="fr-FR" sz="2600" b="1" dirty="0">
                <a:latin typeface="+mn-lt"/>
                <a:ea typeface="Tahoma" panose="020B0604030504040204" pitchFamily="34" charset="0"/>
                <a:cs typeface="Tahoma" panose="020B0604030504040204" pitchFamily="34" charset="0"/>
              </a:rPr>
              <a:t>Généralisation(méthode de prédiction) </a:t>
            </a:r>
          </a:p>
          <a:p>
            <a:r>
              <a:rPr lang="fr-FR" sz="2600" b="1" dirty="0">
                <a:latin typeface="+mn-lt"/>
                <a:ea typeface="Tahoma" panose="020B0604030504040204" pitchFamily="34" charset="0"/>
                <a:cs typeface="Tahoma" panose="020B0604030504040204" pitchFamily="34" charset="0"/>
              </a:rPr>
              <a:t>Base de données des images des  cerveaux</a:t>
            </a:r>
          </a:p>
          <a:p>
            <a:r>
              <a:rPr lang="fr-FR" sz="2600" b="1" dirty="0">
                <a:latin typeface="+mn-lt"/>
                <a:ea typeface="Tahoma" panose="020B0604030504040204" pitchFamily="34" charset="0"/>
                <a:cs typeface="Tahoma" panose="020B0604030504040204" pitchFamily="34" charset="0"/>
              </a:rPr>
              <a:t>Ordinateur avec d'excellentes spécification</a:t>
            </a:r>
          </a:p>
          <a:p>
            <a:r>
              <a:rPr lang="fr-FR" sz="2600" b="1" dirty="0">
                <a:latin typeface="+mn-lt"/>
                <a:ea typeface="Tahoma" panose="020B0604030504040204" pitchFamily="34" charset="0"/>
                <a:cs typeface="Tahoma" panose="020B0604030504040204" pitchFamily="34" charset="0"/>
              </a:rPr>
              <a:t>Bibliothèques d'apprentissage en profondeur et automatique</a:t>
            </a:r>
          </a:p>
        </p:txBody>
      </p:sp>
      <p:pic>
        <p:nvPicPr>
          <p:cNvPr id="5" name="Picture 4">
            <a:extLst>
              <a:ext uri="{FF2B5EF4-FFF2-40B4-BE49-F238E27FC236}">
                <a16:creationId xmlns:a16="http://schemas.microsoft.com/office/drawing/2014/main" id="{7C104FC8-07AC-48DF-9CC3-AE6DC6E17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4870" y="0"/>
            <a:ext cx="5367130" cy="6858001"/>
          </a:xfrm>
          <a:prstGeom prst="rect">
            <a:avLst/>
          </a:prstGeom>
        </p:spPr>
      </p:pic>
    </p:spTree>
    <p:extLst>
      <p:ext uri="{BB962C8B-B14F-4D97-AF65-F5344CB8AC3E}">
        <p14:creationId xmlns:p14="http://schemas.microsoft.com/office/powerpoint/2010/main" val="642415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ircle(in)">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565BAF-B593-4AFD-9F6E-4D426DCC78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DD714D3A-9313-43F2-BB06-1773A563710B}"/>
              </a:ext>
            </a:extLst>
          </p:cNvPr>
          <p:cNvSpPr>
            <a:spLocks noGrp="1"/>
          </p:cNvSpPr>
          <p:nvPr>
            <p:ph type="ctrTitle"/>
          </p:nvPr>
        </p:nvSpPr>
        <p:spPr>
          <a:xfrm>
            <a:off x="4150810" y="1626607"/>
            <a:ext cx="4501661" cy="1371600"/>
          </a:xfrm>
        </p:spPr>
        <p:txBody>
          <a:bodyPr/>
          <a:lstStyle/>
          <a:p>
            <a:pPr algn="ctr"/>
            <a:r>
              <a:rPr lang="fr-FR" sz="2400" b="1" dirty="0"/>
              <a:t>Etat de l’art de Problèmes de l’Algorithme</a:t>
            </a:r>
            <a:endParaRPr lang="fr-FR" sz="2400" dirty="0"/>
          </a:p>
        </p:txBody>
      </p:sp>
    </p:spTree>
    <p:extLst>
      <p:ext uri="{BB962C8B-B14F-4D97-AF65-F5344CB8AC3E}">
        <p14:creationId xmlns:p14="http://schemas.microsoft.com/office/powerpoint/2010/main" val="3125599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F72D1D-DECE-417A-A9F9-CE6EFD0136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1180081"/>
          </a:xfrm>
          <a:prstGeom prst="rect">
            <a:avLst/>
          </a:prstGeom>
        </p:spPr>
      </p:pic>
      <p:sp>
        <p:nvSpPr>
          <p:cNvPr id="3" name="Content Placeholder 2">
            <a:extLst>
              <a:ext uri="{FF2B5EF4-FFF2-40B4-BE49-F238E27FC236}">
                <a16:creationId xmlns:a16="http://schemas.microsoft.com/office/drawing/2014/main" id="{55C7C8C5-FD4F-4FFA-A438-4269F5F494D6}"/>
              </a:ext>
            </a:extLst>
          </p:cNvPr>
          <p:cNvSpPr>
            <a:spLocks noGrp="1"/>
          </p:cNvSpPr>
          <p:nvPr>
            <p:ph idx="1"/>
          </p:nvPr>
        </p:nvSpPr>
        <p:spPr>
          <a:xfrm>
            <a:off x="1075602" y="1280160"/>
            <a:ext cx="8946541" cy="3896751"/>
          </a:xfrm>
        </p:spPr>
        <p:txBody>
          <a:bodyPr>
            <a:normAutofit fontScale="25000" lnSpcReduction="20000"/>
          </a:bodyPr>
          <a:lstStyle/>
          <a:p>
            <a:pPr marL="0" indent="0" algn="ctr">
              <a:buNone/>
            </a:pPr>
            <a:r>
              <a:rPr lang="fr-FR" sz="11200" b="1" dirty="0"/>
              <a:t>Notion Générale</a:t>
            </a:r>
          </a:p>
          <a:p>
            <a:r>
              <a:rPr lang="fr-FR" sz="8000" b="1" dirty="0"/>
              <a:t>Généralisation</a:t>
            </a:r>
          </a:p>
          <a:p>
            <a:r>
              <a:rPr lang="fr-FR" sz="8000" b="1" dirty="0"/>
              <a:t>Disponibilité de pré-entraînements </a:t>
            </a:r>
          </a:p>
          <a:p>
            <a:r>
              <a:rPr lang="fr-FR" sz="8000" b="1" dirty="0"/>
              <a:t>Taille du jeu de données </a:t>
            </a:r>
          </a:p>
          <a:p>
            <a:r>
              <a:rPr lang="fr-FR" sz="8000" b="1" dirty="0"/>
              <a:t>Surapprentissage (</a:t>
            </a:r>
            <a:r>
              <a:rPr lang="fr-FR" sz="8000" b="1" dirty="0" err="1"/>
              <a:t>Overfitting</a:t>
            </a:r>
            <a:r>
              <a:rPr lang="fr-FR" sz="8000" b="1" dirty="0"/>
              <a:t>) </a:t>
            </a:r>
          </a:p>
          <a:p>
            <a:r>
              <a:rPr lang="fr-FR" sz="8000" b="1" dirty="0"/>
              <a:t>Manque de données </a:t>
            </a:r>
          </a:p>
          <a:p>
            <a:r>
              <a:rPr lang="fr-FR" sz="8000" b="1" dirty="0"/>
              <a:t>Temps d'entraînement </a:t>
            </a:r>
          </a:p>
          <a:p>
            <a:r>
              <a:rPr lang="fr-FR" sz="8000" b="1" dirty="0"/>
              <a:t>Initialisation difficile </a:t>
            </a:r>
          </a:p>
          <a:p>
            <a:r>
              <a:rPr lang="fr-FR" sz="8000" b="1" dirty="0"/>
              <a:t>Architecture du réseau </a:t>
            </a:r>
          </a:p>
          <a:p>
            <a:r>
              <a:rPr lang="fr-FR" sz="8000" b="1" dirty="0"/>
              <a:t>Exploration de l'espace des hyperparamètres </a:t>
            </a:r>
          </a:p>
          <a:p>
            <a:endParaRPr lang="fr-FR" dirty="0"/>
          </a:p>
        </p:txBody>
      </p:sp>
      <p:pic>
        <p:nvPicPr>
          <p:cNvPr id="4" name="Picture 3">
            <a:extLst>
              <a:ext uri="{FF2B5EF4-FFF2-40B4-BE49-F238E27FC236}">
                <a16:creationId xmlns:a16="http://schemas.microsoft.com/office/drawing/2014/main" id="{52E96DBA-07FE-459E-9AB8-8237E1AF43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176911"/>
            <a:ext cx="12192000" cy="1681088"/>
          </a:xfrm>
          <a:prstGeom prst="rect">
            <a:avLst/>
          </a:prstGeom>
        </p:spPr>
      </p:pic>
    </p:spTree>
    <p:extLst>
      <p:ext uri="{BB962C8B-B14F-4D97-AF65-F5344CB8AC3E}">
        <p14:creationId xmlns:p14="http://schemas.microsoft.com/office/powerpoint/2010/main" val="3291708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1000"/>
                                        <p:tgtEl>
                                          <p:spTgt spid="3">
                                            <p:txEl>
                                              <p:pRg st="6" end="6"/>
                                            </p:txEl>
                                          </p:spTgt>
                                        </p:tgtEl>
                                      </p:cBhvr>
                                    </p:animEffect>
                                    <p:anim calcmode="lin" valueType="num">
                                      <p:cBhvr>
                                        <p:cTn id="4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Effect transition="in" filter="fade">
                                      <p:cBhvr>
                                        <p:cTn id="54" dur="1000"/>
                                        <p:tgtEl>
                                          <p:spTgt spid="3">
                                            <p:txEl>
                                              <p:pRg st="7" end="7"/>
                                            </p:txEl>
                                          </p:spTgt>
                                        </p:tgtEl>
                                      </p:cBhvr>
                                    </p:animEffect>
                                    <p:anim calcmode="lin" valueType="num">
                                      <p:cBhvr>
                                        <p:cTn id="5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animEffect transition="in" filter="fade">
                                      <p:cBhvr>
                                        <p:cTn id="61" dur="1000"/>
                                        <p:tgtEl>
                                          <p:spTgt spid="3">
                                            <p:txEl>
                                              <p:pRg st="8" end="8"/>
                                            </p:txEl>
                                          </p:spTgt>
                                        </p:tgtEl>
                                      </p:cBhvr>
                                    </p:animEffect>
                                    <p:anim calcmode="lin" valueType="num">
                                      <p:cBhvr>
                                        <p:cTn id="6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3">
                                            <p:txEl>
                                              <p:pRg st="9" end="9"/>
                                            </p:txEl>
                                          </p:spTgt>
                                        </p:tgtEl>
                                        <p:attrNameLst>
                                          <p:attrName>style.visibility</p:attrName>
                                        </p:attrNameLst>
                                      </p:cBhvr>
                                      <p:to>
                                        <p:strVal val="visible"/>
                                      </p:to>
                                    </p:set>
                                    <p:animEffect transition="in" filter="fade">
                                      <p:cBhvr>
                                        <p:cTn id="68" dur="1000"/>
                                        <p:tgtEl>
                                          <p:spTgt spid="3">
                                            <p:txEl>
                                              <p:pRg st="9" end="9"/>
                                            </p:txEl>
                                          </p:spTgt>
                                        </p:tgtEl>
                                      </p:cBhvr>
                                    </p:animEffect>
                                    <p:anim calcmode="lin" valueType="num">
                                      <p:cBhvr>
                                        <p:cTn id="69"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0"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8F988B-95E2-4ADC-A5C8-D486DD661C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128591"/>
            <a:ext cx="12192000" cy="1729408"/>
          </a:xfrm>
          <a:prstGeom prst="rect">
            <a:avLst/>
          </a:prstGeom>
        </p:spPr>
      </p:pic>
      <p:sp>
        <p:nvSpPr>
          <p:cNvPr id="3" name="Content Placeholder 2">
            <a:extLst>
              <a:ext uri="{FF2B5EF4-FFF2-40B4-BE49-F238E27FC236}">
                <a16:creationId xmlns:a16="http://schemas.microsoft.com/office/drawing/2014/main" id="{7EF107F5-A725-4078-BAAA-A63D64A902ED}"/>
              </a:ext>
            </a:extLst>
          </p:cNvPr>
          <p:cNvSpPr>
            <a:spLocks noGrp="1"/>
          </p:cNvSpPr>
          <p:nvPr>
            <p:ph idx="1"/>
          </p:nvPr>
        </p:nvSpPr>
        <p:spPr>
          <a:xfrm>
            <a:off x="1103312" y="1429464"/>
            <a:ext cx="8946541" cy="3513597"/>
          </a:xfrm>
        </p:spPr>
        <p:txBody>
          <a:bodyPr>
            <a:normAutofit fontScale="85000" lnSpcReduction="20000"/>
          </a:bodyPr>
          <a:lstStyle/>
          <a:p>
            <a:r>
              <a:rPr lang="fr-FR" sz="2900" b="1" dirty="0" err="1"/>
              <a:t>Adversarial</a:t>
            </a:r>
            <a:r>
              <a:rPr lang="fr-FR" sz="2900" b="1" dirty="0"/>
              <a:t> </a:t>
            </a:r>
            <a:r>
              <a:rPr lang="fr-FR" sz="2900" b="1" dirty="0" err="1"/>
              <a:t>Attacks</a:t>
            </a:r>
            <a:r>
              <a:rPr lang="fr-FR" sz="2900" b="1" dirty="0"/>
              <a:t> </a:t>
            </a:r>
          </a:p>
          <a:p>
            <a:r>
              <a:rPr lang="fr-FR" sz="2900" b="1" dirty="0"/>
              <a:t>Éthique et biais </a:t>
            </a:r>
          </a:p>
          <a:p>
            <a:r>
              <a:rPr lang="fr-FR" sz="2900" b="1" dirty="0"/>
              <a:t>Utilisation énergétique </a:t>
            </a:r>
          </a:p>
          <a:p>
            <a:r>
              <a:rPr lang="fr-FR" sz="2900" b="1" dirty="0"/>
              <a:t>Interprétabilité et Explicabilité </a:t>
            </a:r>
          </a:p>
          <a:p>
            <a:r>
              <a:rPr lang="fr-FR" sz="2900" b="1" dirty="0"/>
              <a:t>Utilisation éthique </a:t>
            </a:r>
          </a:p>
          <a:p>
            <a:r>
              <a:rPr lang="fr-FR" sz="2900" b="1" dirty="0"/>
              <a:t>Apprentissage par transfert (Transfer Learning) </a:t>
            </a:r>
          </a:p>
          <a:p>
            <a:r>
              <a:rPr lang="fr-FR" sz="2900" b="1" dirty="0"/>
              <a:t>Auto-encodeurs et Représentations Latentes </a:t>
            </a:r>
          </a:p>
          <a:p>
            <a:r>
              <a:rPr lang="fr-FR" sz="2900" b="1" dirty="0"/>
              <a:t>Explication des Décisions </a:t>
            </a:r>
          </a:p>
          <a:p>
            <a:endParaRPr lang="fr-FR" dirty="0"/>
          </a:p>
        </p:txBody>
      </p:sp>
      <p:pic>
        <p:nvPicPr>
          <p:cNvPr id="5" name="Picture 4">
            <a:extLst>
              <a:ext uri="{FF2B5EF4-FFF2-40B4-BE49-F238E27FC236}">
                <a16:creationId xmlns:a16="http://schemas.microsoft.com/office/drawing/2014/main" id="{92FC7E06-FBAA-463C-9122-E801AFB7A0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
            <a:ext cx="12192000" cy="1233054"/>
          </a:xfrm>
          <a:prstGeom prst="rect">
            <a:avLst/>
          </a:prstGeom>
        </p:spPr>
      </p:pic>
    </p:spTree>
    <p:extLst>
      <p:ext uri="{BB962C8B-B14F-4D97-AF65-F5344CB8AC3E}">
        <p14:creationId xmlns:p14="http://schemas.microsoft.com/office/powerpoint/2010/main" val="2879058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0AFBCA-93CD-4C22-B6F6-1A1A2704830D}"/>
              </a:ext>
            </a:extLst>
          </p:cNvPr>
          <p:cNvSpPr>
            <a:spLocks noGrp="1"/>
          </p:cNvSpPr>
          <p:nvPr>
            <p:ph idx="1"/>
          </p:nvPr>
        </p:nvSpPr>
        <p:spPr>
          <a:xfrm>
            <a:off x="706349" y="1331258"/>
            <a:ext cx="4978833" cy="4195481"/>
          </a:xfrm>
        </p:spPr>
        <p:txBody>
          <a:bodyPr>
            <a:normAutofit/>
          </a:bodyPr>
          <a:lstStyle/>
          <a:p>
            <a:pPr marL="0" indent="0">
              <a:buNone/>
            </a:pPr>
            <a:r>
              <a:rPr lang="fr-FR" sz="3600" b="1" dirty="0"/>
              <a:t>Pour cet article on a :</a:t>
            </a:r>
          </a:p>
          <a:p>
            <a:pPr marL="0" indent="0">
              <a:buNone/>
            </a:pPr>
            <a:endParaRPr lang="fr-FR" sz="3600" b="1" dirty="0"/>
          </a:p>
          <a:p>
            <a:r>
              <a:rPr lang="fr-FR" sz="2400" b="1" dirty="0"/>
              <a:t>Apprentissage Auto-supervisé </a:t>
            </a:r>
          </a:p>
          <a:p>
            <a:r>
              <a:rPr lang="fr-FR" sz="2400" b="1" dirty="0"/>
              <a:t>Multimodalité</a:t>
            </a:r>
          </a:p>
          <a:p>
            <a:r>
              <a:rPr lang="fr-FR" sz="2400" b="1" dirty="0"/>
              <a:t>Taille du jeu de données </a:t>
            </a:r>
          </a:p>
          <a:p>
            <a:r>
              <a:rPr lang="fr-FR" sz="2400" b="1" dirty="0"/>
              <a:t>Vision par ordinateur </a:t>
            </a:r>
          </a:p>
          <a:p>
            <a:r>
              <a:rPr lang="fr-FR" sz="2400" b="1" dirty="0"/>
              <a:t>Temps d'entraînement </a:t>
            </a:r>
            <a:r>
              <a:rPr lang="fr-FR" sz="2800" b="1" dirty="0"/>
              <a:t> </a:t>
            </a:r>
          </a:p>
          <a:p>
            <a:endParaRPr lang="fr-FR" dirty="0"/>
          </a:p>
        </p:txBody>
      </p:sp>
      <p:pic>
        <p:nvPicPr>
          <p:cNvPr id="4" name="Picture 3">
            <a:extLst>
              <a:ext uri="{FF2B5EF4-FFF2-40B4-BE49-F238E27FC236}">
                <a16:creationId xmlns:a16="http://schemas.microsoft.com/office/drawing/2014/main" id="{B92F3AAE-8918-48DF-82D2-E3D67BACD2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0"/>
            <a:ext cx="6096000" cy="6857999"/>
          </a:xfrm>
          <a:prstGeom prst="rect">
            <a:avLst/>
          </a:prstGeom>
        </p:spPr>
      </p:pic>
    </p:spTree>
    <p:extLst>
      <p:ext uri="{BB962C8B-B14F-4D97-AF65-F5344CB8AC3E}">
        <p14:creationId xmlns:p14="http://schemas.microsoft.com/office/powerpoint/2010/main" val="3482319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additive="base">
                                        <p:cTn id="1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 calcmode="lin" valueType="num">
                                      <p:cBhvr additive="base">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 calcmode="lin" valueType="num">
                                      <p:cBhvr additive="base">
                                        <p:cTn id="2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 calcmode="lin" valueType="num">
                                      <p:cBhvr additive="base">
                                        <p:cTn id="3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33D611-0128-4A50-96A0-B0DB068629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428" y="0"/>
            <a:ext cx="12191999" cy="6858000"/>
          </a:xfrm>
          <a:prstGeom prst="rect">
            <a:avLst/>
          </a:prstGeom>
        </p:spPr>
      </p:pic>
      <p:sp>
        <p:nvSpPr>
          <p:cNvPr id="2" name="Title 1">
            <a:extLst>
              <a:ext uri="{FF2B5EF4-FFF2-40B4-BE49-F238E27FC236}">
                <a16:creationId xmlns:a16="http://schemas.microsoft.com/office/drawing/2014/main" id="{DD714D3A-9313-43F2-BB06-1773A563710B}"/>
              </a:ext>
            </a:extLst>
          </p:cNvPr>
          <p:cNvSpPr>
            <a:spLocks noGrp="1"/>
          </p:cNvSpPr>
          <p:nvPr>
            <p:ph type="ctrTitle"/>
          </p:nvPr>
        </p:nvSpPr>
        <p:spPr>
          <a:xfrm>
            <a:off x="4305693" y="1042601"/>
            <a:ext cx="5062971" cy="2022764"/>
          </a:xfrm>
        </p:spPr>
        <p:txBody>
          <a:bodyPr/>
          <a:lstStyle/>
          <a:p>
            <a:pPr algn="ctr"/>
            <a:r>
              <a:rPr lang="fr-FR" sz="3200" b="1" dirty="0"/>
              <a:t>Approche contribution de l’algorithme</a:t>
            </a:r>
          </a:p>
        </p:txBody>
      </p:sp>
    </p:spTree>
    <p:extLst>
      <p:ext uri="{BB962C8B-B14F-4D97-AF65-F5344CB8AC3E}">
        <p14:creationId xmlns:p14="http://schemas.microsoft.com/office/powerpoint/2010/main" val="2355415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FC05FF-2B9D-42FD-A5F4-E933B09B6962}"/>
              </a:ext>
            </a:extLst>
          </p:cNvPr>
          <p:cNvSpPr>
            <a:spLocks noGrp="1"/>
          </p:cNvSpPr>
          <p:nvPr>
            <p:ph idx="1"/>
          </p:nvPr>
        </p:nvSpPr>
        <p:spPr>
          <a:xfrm>
            <a:off x="1103312" y="1457173"/>
            <a:ext cx="8946541" cy="4195481"/>
          </a:xfrm>
        </p:spPr>
        <p:txBody>
          <a:bodyPr/>
          <a:lstStyle/>
          <a:p>
            <a:pPr marL="0" indent="0">
              <a:buNone/>
            </a:pPr>
            <a:r>
              <a:rPr lang="fr-FR" b="1" dirty="0">
                <a:latin typeface="Tahoma" panose="020B0604030504040204" pitchFamily="34" charset="0"/>
                <a:ea typeface="Tahoma" panose="020B0604030504040204" pitchFamily="34" charset="0"/>
                <a:cs typeface="Tahoma" panose="020B0604030504040204" pitchFamily="34" charset="0"/>
              </a:rPr>
              <a:t>Dans cet article on a :</a:t>
            </a:r>
          </a:p>
          <a:p>
            <a:r>
              <a:rPr lang="fr-FR" b="1" dirty="0">
                <a:latin typeface="Tahoma" panose="020B0604030504040204" pitchFamily="34" charset="0"/>
                <a:ea typeface="Tahoma" panose="020B0604030504040204" pitchFamily="34" charset="0"/>
                <a:cs typeface="Tahoma" panose="020B0604030504040204" pitchFamily="34" charset="0"/>
              </a:rPr>
              <a:t>Approche basée sur les caractéristiques géométriques</a:t>
            </a:r>
            <a:r>
              <a:rPr lang="fr-FR" dirty="0">
                <a:latin typeface="Tahoma" panose="020B0604030504040204" pitchFamily="34" charset="0"/>
                <a:ea typeface="Tahoma" panose="020B0604030504040204" pitchFamily="34" charset="0"/>
                <a:cs typeface="Tahoma" panose="020B0604030504040204" pitchFamily="34" charset="0"/>
              </a:rPr>
              <a:t>: Cette approche est simple, rapide et peut être appliquée à des images de cerveaux de faible qualité et sensible à pose </a:t>
            </a:r>
          </a:p>
          <a:p>
            <a:pPr marL="0" indent="0">
              <a:buNone/>
            </a:pPr>
            <a:endParaRPr lang="fr-FR" dirty="0">
              <a:latin typeface="Tahoma" panose="020B0604030504040204" pitchFamily="34" charset="0"/>
              <a:ea typeface="Tahoma" panose="020B0604030504040204" pitchFamily="34" charset="0"/>
              <a:cs typeface="Tahoma" panose="020B0604030504040204" pitchFamily="34" charset="0"/>
            </a:endParaRPr>
          </a:p>
          <a:p>
            <a:r>
              <a:rPr lang="fr-FR" b="1" dirty="0">
                <a:latin typeface="Tahoma" panose="020B0604030504040204" pitchFamily="34" charset="0"/>
                <a:ea typeface="Tahoma" panose="020B0604030504040204" pitchFamily="34" charset="0"/>
                <a:cs typeface="Tahoma" panose="020B0604030504040204" pitchFamily="34" charset="0"/>
              </a:rPr>
              <a:t>Approche basée sur l'apprentissage en profondeur </a:t>
            </a:r>
            <a:r>
              <a:rPr lang="fr-FR" dirty="0">
                <a:latin typeface="Tahoma" panose="020B0604030504040204" pitchFamily="34" charset="0"/>
                <a:ea typeface="Tahoma" panose="020B0604030504040204" pitchFamily="34" charset="0"/>
                <a:cs typeface="Tahoma" panose="020B0604030504040204" pitchFamily="34" charset="0"/>
              </a:rPr>
              <a:t>: extraire des</a:t>
            </a:r>
          </a:p>
          <a:p>
            <a:pPr marL="0" indent="0">
              <a:buNone/>
            </a:pPr>
            <a:r>
              <a:rPr lang="fr-FR" dirty="0">
                <a:latin typeface="Tahoma" panose="020B0604030504040204" pitchFamily="34" charset="0"/>
                <a:ea typeface="Tahoma" panose="020B0604030504040204" pitchFamily="34" charset="0"/>
                <a:cs typeface="Tahoma" panose="020B0604030504040204" pitchFamily="34" charset="0"/>
              </a:rPr>
              <a:t>caractéristiques à partir de l'image du cerveau, Cette approche est plus complexe et nécessite un grand ensemble de données pour l'apprentissage, mais elle est plus robuste aux changements de pose et de qualité d'image</a:t>
            </a:r>
          </a:p>
        </p:txBody>
      </p:sp>
    </p:spTree>
    <p:extLst>
      <p:ext uri="{BB962C8B-B14F-4D97-AF65-F5344CB8AC3E}">
        <p14:creationId xmlns:p14="http://schemas.microsoft.com/office/powerpoint/2010/main" val="1676086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E0ED15-3BA6-4EC3-AF8D-35102507F0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DD714D3A-9313-43F2-BB06-1773A563710B}"/>
              </a:ext>
            </a:extLst>
          </p:cNvPr>
          <p:cNvSpPr>
            <a:spLocks noGrp="1"/>
          </p:cNvSpPr>
          <p:nvPr>
            <p:ph type="ctrTitle"/>
          </p:nvPr>
        </p:nvSpPr>
        <p:spPr>
          <a:xfrm>
            <a:off x="4216229" y="2200066"/>
            <a:ext cx="4346918" cy="1322363"/>
          </a:xfrm>
        </p:spPr>
        <p:txBody>
          <a:bodyPr/>
          <a:lstStyle/>
          <a:p>
            <a:pPr algn="ctr"/>
            <a:r>
              <a:rPr lang="fr-FR" sz="2400" b="1" dirty="0"/>
              <a:t>Résultat et simulation de l’algorithme </a:t>
            </a:r>
            <a:br>
              <a:rPr lang="fr-FR" sz="2400" dirty="0"/>
            </a:br>
            <a:endParaRPr lang="fr-FR" sz="2400" dirty="0"/>
          </a:p>
        </p:txBody>
      </p:sp>
    </p:spTree>
    <p:extLst>
      <p:ext uri="{BB962C8B-B14F-4D97-AF65-F5344CB8AC3E}">
        <p14:creationId xmlns:p14="http://schemas.microsoft.com/office/powerpoint/2010/main" val="2298848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BD72AD-47FE-4BC8-AB90-3D8F09F26477}"/>
              </a:ext>
            </a:extLst>
          </p:cNvPr>
          <p:cNvSpPr>
            <a:spLocks noGrp="1"/>
          </p:cNvSpPr>
          <p:nvPr>
            <p:ph idx="1"/>
          </p:nvPr>
        </p:nvSpPr>
        <p:spPr>
          <a:xfrm>
            <a:off x="923203" y="1207790"/>
            <a:ext cx="8946541" cy="5020733"/>
          </a:xfrm>
        </p:spPr>
        <p:txBody>
          <a:bodyPr>
            <a:normAutofit fontScale="25000" lnSpcReduction="20000"/>
          </a:bodyPr>
          <a:lstStyle/>
          <a:p>
            <a:endParaRPr lang="fr-FR" sz="2200" b="1" dirty="0"/>
          </a:p>
          <a:p>
            <a:pPr marL="0" indent="0">
              <a:buNone/>
            </a:pPr>
            <a:endParaRPr lang="fr-FR" sz="7200" b="1" dirty="0"/>
          </a:p>
          <a:p>
            <a:r>
              <a:rPr lang="fr-FR" sz="7200" b="1" dirty="0"/>
              <a:t>Choix de l’</a:t>
            </a:r>
            <a:r>
              <a:rPr lang="fr-FR" sz="7200" b="1" dirty="0" err="1"/>
              <a:t>envirennement</a:t>
            </a:r>
            <a:r>
              <a:rPr lang="fr-FR" sz="7200" b="1" dirty="0"/>
              <a:t> ou  la Plateforme: </a:t>
            </a:r>
            <a:r>
              <a:rPr lang="fr-FR" sz="7200" b="1" dirty="0" err="1"/>
              <a:t>TensorFlow</a:t>
            </a:r>
            <a:r>
              <a:rPr lang="fr-FR" sz="7200" b="1" dirty="0"/>
              <a:t>, </a:t>
            </a:r>
            <a:r>
              <a:rPr lang="fr-FR" sz="7200" b="1" dirty="0" err="1"/>
              <a:t>PyTorch</a:t>
            </a:r>
            <a:r>
              <a:rPr lang="fr-FR" sz="7200" b="1" dirty="0"/>
              <a:t>, </a:t>
            </a:r>
            <a:r>
              <a:rPr lang="fr-FR" sz="7200" b="1" dirty="0" err="1"/>
              <a:t>Keras</a:t>
            </a:r>
            <a:r>
              <a:rPr lang="fr-FR" sz="7200" b="1" dirty="0"/>
              <a:t>,</a:t>
            </a:r>
            <a:r>
              <a:rPr lang="fr-FR" sz="7200" dirty="0"/>
              <a:t> </a:t>
            </a:r>
            <a:r>
              <a:rPr lang="fr-FR" sz="7200" b="1" dirty="0" err="1"/>
              <a:t>OpenCV</a:t>
            </a:r>
            <a:r>
              <a:rPr lang="fr-FR" sz="7200" b="1" dirty="0"/>
              <a:t> et python</a:t>
            </a:r>
          </a:p>
          <a:p>
            <a:r>
              <a:rPr lang="fr-FR" sz="7200" b="1" dirty="0"/>
              <a:t>Collecte de Données : base de données AR</a:t>
            </a:r>
          </a:p>
          <a:p>
            <a:r>
              <a:rPr lang="fr-FR" sz="7200" b="1" dirty="0"/>
              <a:t>Modèle de </a:t>
            </a:r>
            <a:r>
              <a:rPr lang="fr-FR" sz="7200" b="1" dirty="0" err="1"/>
              <a:t>Deep</a:t>
            </a:r>
            <a:r>
              <a:rPr lang="fr-FR" sz="7200" b="1" dirty="0"/>
              <a:t> Learning :CNN,ANN</a:t>
            </a:r>
          </a:p>
          <a:p>
            <a:r>
              <a:rPr lang="fr-FR" sz="7200" b="1" dirty="0"/>
              <a:t>Modèle Machine Learning :KNN,SVM,AR</a:t>
            </a:r>
          </a:p>
          <a:p>
            <a:r>
              <a:rPr lang="fr-FR" sz="7200" b="1" dirty="0"/>
              <a:t>Entraînement du Modèle </a:t>
            </a:r>
          </a:p>
          <a:p>
            <a:r>
              <a:rPr lang="fr-FR" sz="7200" b="1" dirty="0"/>
              <a:t>Évaluation des Performances </a:t>
            </a:r>
          </a:p>
          <a:p>
            <a:r>
              <a:rPr lang="fr-FR" sz="7200" b="1" dirty="0"/>
              <a:t>Comparaison avec d'Autres Méthodes(autre model vos CNN,SVM,ANN)</a:t>
            </a:r>
          </a:p>
          <a:p>
            <a:r>
              <a:rPr lang="fr-FR" sz="7200" b="1" dirty="0"/>
              <a:t>Visualisation des Résultats </a:t>
            </a:r>
          </a:p>
          <a:p>
            <a:r>
              <a:rPr lang="fr-FR" sz="7200" b="1" dirty="0"/>
              <a:t>Interprétation des Résultats </a:t>
            </a:r>
          </a:p>
          <a:p>
            <a:r>
              <a:rPr lang="fr-FR" sz="7200" b="1" dirty="0"/>
              <a:t>Répétez et Affinez </a:t>
            </a:r>
          </a:p>
          <a:p>
            <a:r>
              <a:rPr lang="fr-FR" sz="7200" b="1" dirty="0"/>
              <a:t>Rédaction de l'Étude Comparative </a:t>
            </a:r>
          </a:p>
          <a:p>
            <a:r>
              <a:rPr lang="fr-FR" sz="7200" b="1" dirty="0"/>
              <a:t>Publication ou Présentation </a:t>
            </a:r>
          </a:p>
          <a:p>
            <a:endParaRPr lang="fr-FR" dirty="0"/>
          </a:p>
        </p:txBody>
      </p:sp>
      <p:sp>
        <p:nvSpPr>
          <p:cNvPr id="4" name="Title 1">
            <a:extLst>
              <a:ext uri="{FF2B5EF4-FFF2-40B4-BE49-F238E27FC236}">
                <a16:creationId xmlns:a16="http://schemas.microsoft.com/office/drawing/2014/main" id="{AAEF3133-5A8B-4F0E-AF2E-ECE4F9206274}"/>
              </a:ext>
            </a:extLst>
          </p:cNvPr>
          <p:cNvSpPr>
            <a:spLocks noGrp="1"/>
          </p:cNvSpPr>
          <p:nvPr>
            <p:ph type="title"/>
          </p:nvPr>
        </p:nvSpPr>
        <p:spPr>
          <a:xfrm>
            <a:off x="646111" y="452718"/>
            <a:ext cx="10061646" cy="755072"/>
          </a:xfrm>
        </p:spPr>
        <p:txBody>
          <a:bodyPr/>
          <a:lstStyle/>
          <a:p>
            <a:r>
              <a:rPr lang="fr-FR" sz="3600" b="1" dirty="0"/>
              <a:t>Dans cet Article on utilise:</a:t>
            </a:r>
            <a:br>
              <a:rPr lang="fr-FR" sz="9600" b="1" dirty="0"/>
            </a:br>
            <a:endParaRPr lang="fr-FR" dirty="0"/>
          </a:p>
        </p:txBody>
      </p:sp>
    </p:spTree>
    <p:extLst>
      <p:ext uri="{BB962C8B-B14F-4D97-AF65-F5344CB8AC3E}">
        <p14:creationId xmlns:p14="http://schemas.microsoft.com/office/powerpoint/2010/main" val="3771542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1000"/>
                                        <p:tgtEl>
                                          <p:spTgt spid="3">
                                            <p:txEl>
                                              <p:pRg st="5" end="5"/>
                                            </p:txEl>
                                          </p:spTgt>
                                        </p:tgtEl>
                                      </p:cBhvr>
                                    </p:animEffect>
                                    <p:anim calcmode="lin" valueType="num">
                                      <p:cBhvr>
                                        <p:cTn id="3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fade">
                                      <p:cBhvr>
                                        <p:cTn id="40" dur="1000"/>
                                        <p:tgtEl>
                                          <p:spTgt spid="3">
                                            <p:txEl>
                                              <p:pRg st="6" end="6"/>
                                            </p:txEl>
                                          </p:spTgt>
                                        </p:tgtEl>
                                      </p:cBhvr>
                                    </p:animEffect>
                                    <p:anim calcmode="lin" valueType="num">
                                      <p:cBhvr>
                                        <p:cTn id="41"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1000"/>
                                        <p:tgtEl>
                                          <p:spTgt spid="3">
                                            <p:txEl>
                                              <p:pRg st="7" end="7"/>
                                            </p:txEl>
                                          </p:spTgt>
                                        </p:tgtEl>
                                      </p:cBhvr>
                                    </p:animEffect>
                                    <p:anim calcmode="lin" valueType="num">
                                      <p:cBhvr>
                                        <p:cTn id="4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3">
                                            <p:txEl>
                                              <p:pRg st="8" end="8"/>
                                            </p:txEl>
                                          </p:spTgt>
                                        </p:tgtEl>
                                        <p:attrNameLst>
                                          <p:attrName>style.visibility</p:attrName>
                                        </p:attrNameLst>
                                      </p:cBhvr>
                                      <p:to>
                                        <p:strVal val="visible"/>
                                      </p:to>
                                    </p:set>
                                    <p:animEffect transition="in" filter="fade">
                                      <p:cBhvr>
                                        <p:cTn id="54" dur="1000"/>
                                        <p:tgtEl>
                                          <p:spTgt spid="3">
                                            <p:txEl>
                                              <p:pRg st="8" end="8"/>
                                            </p:txEl>
                                          </p:spTgt>
                                        </p:tgtEl>
                                      </p:cBhvr>
                                    </p:animEffect>
                                    <p:anim calcmode="lin" valueType="num">
                                      <p:cBhvr>
                                        <p:cTn id="5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Effect transition="in" filter="fade">
                                      <p:cBhvr>
                                        <p:cTn id="61" dur="1000"/>
                                        <p:tgtEl>
                                          <p:spTgt spid="3">
                                            <p:txEl>
                                              <p:pRg st="9" end="9"/>
                                            </p:txEl>
                                          </p:spTgt>
                                        </p:tgtEl>
                                      </p:cBhvr>
                                    </p:animEffect>
                                    <p:anim calcmode="lin" valueType="num">
                                      <p:cBhvr>
                                        <p:cTn id="62"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3">
                                            <p:txEl>
                                              <p:pRg st="10" end="10"/>
                                            </p:txEl>
                                          </p:spTgt>
                                        </p:tgtEl>
                                        <p:attrNameLst>
                                          <p:attrName>style.visibility</p:attrName>
                                        </p:attrNameLst>
                                      </p:cBhvr>
                                      <p:to>
                                        <p:strVal val="visible"/>
                                      </p:to>
                                    </p:set>
                                    <p:animEffect transition="in" filter="fade">
                                      <p:cBhvr>
                                        <p:cTn id="68" dur="1000"/>
                                        <p:tgtEl>
                                          <p:spTgt spid="3">
                                            <p:txEl>
                                              <p:pRg st="10" end="10"/>
                                            </p:txEl>
                                          </p:spTgt>
                                        </p:tgtEl>
                                      </p:cBhvr>
                                    </p:animEffect>
                                    <p:anim calcmode="lin" valueType="num">
                                      <p:cBhvr>
                                        <p:cTn id="69"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0"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3">
                                            <p:txEl>
                                              <p:pRg st="11" end="11"/>
                                            </p:txEl>
                                          </p:spTgt>
                                        </p:tgtEl>
                                        <p:attrNameLst>
                                          <p:attrName>style.visibility</p:attrName>
                                        </p:attrNameLst>
                                      </p:cBhvr>
                                      <p:to>
                                        <p:strVal val="visible"/>
                                      </p:to>
                                    </p:set>
                                    <p:animEffect transition="in" filter="fade">
                                      <p:cBhvr>
                                        <p:cTn id="75" dur="1000"/>
                                        <p:tgtEl>
                                          <p:spTgt spid="3">
                                            <p:txEl>
                                              <p:pRg st="11" end="11"/>
                                            </p:txEl>
                                          </p:spTgt>
                                        </p:tgtEl>
                                      </p:cBhvr>
                                    </p:animEffect>
                                    <p:anim calcmode="lin" valueType="num">
                                      <p:cBhvr>
                                        <p:cTn id="76"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77"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3">
                                            <p:txEl>
                                              <p:pRg st="12" end="12"/>
                                            </p:txEl>
                                          </p:spTgt>
                                        </p:tgtEl>
                                        <p:attrNameLst>
                                          <p:attrName>style.visibility</p:attrName>
                                        </p:attrNameLst>
                                      </p:cBhvr>
                                      <p:to>
                                        <p:strVal val="visible"/>
                                      </p:to>
                                    </p:set>
                                    <p:animEffect transition="in" filter="fade">
                                      <p:cBhvr>
                                        <p:cTn id="82" dur="1000"/>
                                        <p:tgtEl>
                                          <p:spTgt spid="3">
                                            <p:txEl>
                                              <p:pRg st="12" end="12"/>
                                            </p:txEl>
                                          </p:spTgt>
                                        </p:tgtEl>
                                      </p:cBhvr>
                                    </p:animEffect>
                                    <p:anim calcmode="lin" valueType="num">
                                      <p:cBhvr>
                                        <p:cTn id="83"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84"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3">
                                            <p:txEl>
                                              <p:pRg st="13" end="13"/>
                                            </p:txEl>
                                          </p:spTgt>
                                        </p:tgtEl>
                                        <p:attrNameLst>
                                          <p:attrName>style.visibility</p:attrName>
                                        </p:attrNameLst>
                                      </p:cBhvr>
                                      <p:to>
                                        <p:strVal val="visible"/>
                                      </p:to>
                                    </p:set>
                                    <p:animEffect transition="in" filter="fade">
                                      <p:cBhvr>
                                        <p:cTn id="89" dur="1000"/>
                                        <p:tgtEl>
                                          <p:spTgt spid="3">
                                            <p:txEl>
                                              <p:pRg st="13" end="13"/>
                                            </p:txEl>
                                          </p:spTgt>
                                        </p:tgtEl>
                                      </p:cBhvr>
                                    </p:animEffect>
                                    <p:anim calcmode="lin" valueType="num">
                                      <p:cBhvr>
                                        <p:cTn id="90"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91"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A0279C-CF14-4C4E-AC34-B6B4360367FD}"/>
              </a:ext>
            </a:extLst>
          </p:cNvPr>
          <p:cNvSpPr>
            <a:spLocks noGrp="1"/>
          </p:cNvSpPr>
          <p:nvPr>
            <p:ph idx="1"/>
          </p:nvPr>
        </p:nvSpPr>
        <p:spPr/>
        <p:txBody>
          <a:bodyPr>
            <a:normAutofit fontScale="85000" lnSpcReduction="20000"/>
          </a:bodyPr>
          <a:lstStyle/>
          <a:p>
            <a:r>
              <a:rPr lang="fr-FR" b="1" dirty="0"/>
              <a:t>Choix de l’</a:t>
            </a:r>
            <a:r>
              <a:rPr lang="fr-FR" b="1" dirty="0" err="1"/>
              <a:t>envirennement</a:t>
            </a:r>
            <a:r>
              <a:rPr lang="fr-FR" b="1" dirty="0"/>
              <a:t> de travail ou Plateforme :google </a:t>
            </a:r>
            <a:r>
              <a:rPr lang="fr-FR" b="1" dirty="0" err="1"/>
              <a:t>Colab</a:t>
            </a:r>
            <a:r>
              <a:rPr lang="fr-FR" b="1" dirty="0"/>
              <a:t>, </a:t>
            </a:r>
            <a:r>
              <a:rPr lang="fr-FR" b="1" dirty="0" err="1"/>
              <a:t>jupyter</a:t>
            </a:r>
            <a:r>
              <a:rPr lang="fr-FR" b="1" dirty="0"/>
              <a:t> notebook  ,</a:t>
            </a:r>
            <a:r>
              <a:rPr lang="fr-FR" b="1" dirty="0" err="1"/>
              <a:t>TensorFlow</a:t>
            </a:r>
            <a:r>
              <a:rPr lang="fr-FR" b="1" dirty="0"/>
              <a:t>, </a:t>
            </a:r>
            <a:r>
              <a:rPr lang="fr-FR" sz="2100" b="1" dirty="0" err="1"/>
              <a:t>matplotlib</a:t>
            </a:r>
            <a:r>
              <a:rPr lang="fr-FR" sz="2100" b="1" dirty="0"/>
              <a:t>,</a:t>
            </a:r>
            <a:r>
              <a:rPr lang="fr-FR" b="1" dirty="0"/>
              <a:t> </a:t>
            </a:r>
            <a:r>
              <a:rPr lang="fr-FR" b="1" dirty="0" err="1"/>
              <a:t>Keras</a:t>
            </a:r>
            <a:r>
              <a:rPr lang="fr-FR" b="1" dirty="0"/>
              <a:t> et python</a:t>
            </a:r>
          </a:p>
          <a:p>
            <a:r>
              <a:rPr lang="fr-FR" b="1" dirty="0"/>
              <a:t>Collecte de Données : base de données AR</a:t>
            </a:r>
          </a:p>
          <a:p>
            <a:r>
              <a:rPr lang="fr-FR" b="1" dirty="0"/>
              <a:t>Modèle de </a:t>
            </a:r>
            <a:r>
              <a:rPr lang="fr-FR" b="1" dirty="0" err="1"/>
              <a:t>Deep</a:t>
            </a:r>
            <a:r>
              <a:rPr lang="fr-FR" b="1" dirty="0"/>
              <a:t> Learning :CNN</a:t>
            </a:r>
          </a:p>
          <a:p>
            <a:r>
              <a:rPr lang="fr-FR" b="1" dirty="0"/>
              <a:t>Modèle Machine Learning :KNN,SVM </a:t>
            </a:r>
          </a:p>
          <a:p>
            <a:r>
              <a:rPr lang="fr-FR" b="1" dirty="0"/>
              <a:t>Entraînement du Modèle </a:t>
            </a:r>
          </a:p>
          <a:p>
            <a:r>
              <a:rPr lang="fr-FR" b="1" dirty="0"/>
              <a:t>Évaluation des Performances </a:t>
            </a:r>
          </a:p>
          <a:p>
            <a:r>
              <a:rPr lang="fr-FR" b="1" dirty="0"/>
              <a:t>Comparaison de Modèle(CNN,SVM)</a:t>
            </a:r>
          </a:p>
          <a:p>
            <a:r>
              <a:rPr lang="fr-FR" b="1" dirty="0"/>
              <a:t>Visualisation des Résultats </a:t>
            </a:r>
          </a:p>
          <a:p>
            <a:r>
              <a:rPr lang="fr-FR" b="1" dirty="0"/>
              <a:t>Interprétation des Résultats </a:t>
            </a:r>
          </a:p>
          <a:p>
            <a:r>
              <a:rPr lang="fr-FR" b="1" dirty="0"/>
              <a:t>Répétez et Affinez </a:t>
            </a:r>
          </a:p>
          <a:p>
            <a:r>
              <a:rPr lang="fr-FR" b="1" dirty="0"/>
              <a:t>Rédaction de l'Étude Comparative </a:t>
            </a:r>
          </a:p>
          <a:p>
            <a:r>
              <a:rPr lang="fr-FR" b="1" dirty="0"/>
              <a:t>Publication ou Présentation </a:t>
            </a:r>
          </a:p>
          <a:p>
            <a:endParaRPr lang="fr-FR" dirty="0"/>
          </a:p>
        </p:txBody>
      </p:sp>
      <p:sp>
        <p:nvSpPr>
          <p:cNvPr id="4" name="TextBox 3">
            <a:extLst>
              <a:ext uri="{FF2B5EF4-FFF2-40B4-BE49-F238E27FC236}">
                <a16:creationId xmlns:a16="http://schemas.microsoft.com/office/drawing/2014/main" id="{AF2637B5-608A-4567-AE86-BA28DAA1C1E5}"/>
              </a:ext>
            </a:extLst>
          </p:cNvPr>
          <p:cNvSpPr txBox="1"/>
          <p:nvPr/>
        </p:nvSpPr>
        <p:spPr>
          <a:xfrm>
            <a:off x="1103312" y="1139687"/>
            <a:ext cx="6211888" cy="646331"/>
          </a:xfrm>
          <a:prstGeom prst="rect">
            <a:avLst/>
          </a:prstGeom>
          <a:noFill/>
        </p:spPr>
        <p:txBody>
          <a:bodyPr wrap="square" rtlCol="0">
            <a:spAutoFit/>
          </a:bodyPr>
          <a:lstStyle/>
          <a:p>
            <a:r>
              <a:rPr lang="fr-FR" sz="3600" b="1" dirty="0"/>
              <a:t>Pour Notre Test </a:t>
            </a:r>
          </a:p>
        </p:txBody>
      </p:sp>
    </p:spTree>
    <p:extLst>
      <p:ext uri="{BB962C8B-B14F-4D97-AF65-F5344CB8AC3E}">
        <p14:creationId xmlns:p14="http://schemas.microsoft.com/office/powerpoint/2010/main" val="3809384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fade">
                                      <p:cBhvr>
                                        <p:cTn id="47" dur="1000"/>
                                        <p:tgtEl>
                                          <p:spTgt spid="3">
                                            <p:txEl>
                                              <p:pRg st="5" end="5"/>
                                            </p:txEl>
                                          </p:spTgt>
                                        </p:tgtEl>
                                      </p:cBhvr>
                                    </p:animEffect>
                                    <p:anim calcmode="lin" valueType="num">
                                      <p:cBhvr>
                                        <p:cTn id="4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3">
                                            <p:txEl>
                                              <p:pRg st="6" end="6"/>
                                            </p:txEl>
                                          </p:spTgt>
                                        </p:tgtEl>
                                        <p:attrNameLst>
                                          <p:attrName>style.visibility</p:attrName>
                                        </p:attrNameLst>
                                      </p:cBhvr>
                                      <p:to>
                                        <p:strVal val="visible"/>
                                      </p:to>
                                    </p:set>
                                    <p:animEffect transition="in" filter="fade">
                                      <p:cBhvr>
                                        <p:cTn id="54" dur="1000"/>
                                        <p:tgtEl>
                                          <p:spTgt spid="3">
                                            <p:txEl>
                                              <p:pRg st="6" end="6"/>
                                            </p:txEl>
                                          </p:spTgt>
                                        </p:tgtEl>
                                      </p:cBhvr>
                                    </p:animEffect>
                                    <p:anim calcmode="lin" valueType="num">
                                      <p:cBhvr>
                                        <p:cTn id="5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3">
                                            <p:txEl>
                                              <p:pRg st="7" end="7"/>
                                            </p:txEl>
                                          </p:spTgt>
                                        </p:tgtEl>
                                        <p:attrNameLst>
                                          <p:attrName>style.visibility</p:attrName>
                                        </p:attrNameLst>
                                      </p:cBhvr>
                                      <p:to>
                                        <p:strVal val="visible"/>
                                      </p:to>
                                    </p:set>
                                    <p:animEffect transition="in" filter="fade">
                                      <p:cBhvr>
                                        <p:cTn id="61" dur="1000"/>
                                        <p:tgtEl>
                                          <p:spTgt spid="3">
                                            <p:txEl>
                                              <p:pRg st="7" end="7"/>
                                            </p:txEl>
                                          </p:spTgt>
                                        </p:tgtEl>
                                      </p:cBhvr>
                                    </p:animEffect>
                                    <p:anim calcmode="lin" valueType="num">
                                      <p:cBhvr>
                                        <p:cTn id="6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3">
                                            <p:txEl>
                                              <p:pRg st="8" end="8"/>
                                            </p:txEl>
                                          </p:spTgt>
                                        </p:tgtEl>
                                        <p:attrNameLst>
                                          <p:attrName>style.visibility</p:attrName>
                                        </p:attrNameLst>
                                      </p:cBhvr>
                                      <p:to>
                                        <p:strVal val="visible"/>
                                      </p:to>
                                    </p:set>
                                    <p:animEffect transition="in" filter="fade">
                                      <p:cBhvr>
                                        <p:cTn id="68" dur="1000"/>
                                        <p:tgtEl>
                                          <p:spTgt spid="3">
                                            <p:txEl>
                                              <p:pRg st="8" end="8"/>
                                            </p:txEl>
                                          </p:spTgt>
                                        </p:tgtEl>
                                      </p:cBhvr>
                                    </p:animEffect>
                                    <p:anim calcmode="lin" valueType="num">
                                      <p:cBhvr>
                                        <p:cTn id="69"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0"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3">
                                            <p:txEl>
                                              <p:pRg st="9" end="9"/>
                                            </p:txEl>
                                          </p:spTgt>
                                        </p:tgtEl>
                                        <p:attrNameLst>
                                          <p:attrName>style.visibility</p:attrName>
                                        </p:attrNameLst>
                                      </p:cBhvr>
                                      <p:to>
                                        <p:strVal val="visible"/>
                                      </p:to>
                                    </p:set>
                                    <p:animEffect transition="in" filter="fade">
                                      <p:cBhvr>
                                        <p:cTn id="75" dur="1000"/>
                                        <p:tgtEl>
                                          <p:spTgt spid="3">
                                            <p:txEl>
                                              <p:pRg st="9" end="9"/>
                                            </p:txEl>
                                          </p:spTgt>
                                        </p:tgtEl>
                                      </p:cBhvr>
                                    </p:animEffect>
                                    <p:anim calcmode="lin" valueType="num">
                                      <p:cBhvr>
                                        <p:cTn id="76"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7"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3">
                                            <p:txEl>
                                              <p:pRg st="10" end="10"/>
                                            </p:txEl>
                                          </p:spTgt>
                                        </p:tgtEl>
                                        <p:attrNameLst>
                                          <p:attrName>style.visibility</p:attrName>
                                        </p:attrNameLst>
                                      </p:cBhvr>
                                      <p:to>
                                        <p:strVal val="visible"/>
                                      </p:to>
                                    </p:set>
                                    <p:animEffect transition="in" filter="fade">
                                      <p:cBhvr>
                                        <p:cTn id="82" dur="1000"/>
                                        <p:tgtEl>
                                          <p:spTgt spid="3">
                                            <p:txEl>
                                              <p:pRg st="10" end="10"/>
                                            </p:txEl>
                                          </p:spTgt>
                                        </p:tgtEl>
                                      </p:cBhvr>
                                    </p:animEffect>
                                    <p:anim calcmode="lin" valueType="num">
                                      <p:cBhvr>
                                        <p:cTn id="8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84"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3">
                                            <p:txEl>
                                              <p:pRg st="11" end="11"/>
                                            </p:txEl>
                                          </p:spTgt>
                                        </p:tgtEl>
                                        <p:attrNameLst>
                                          <p:attrName>style.visibility</p:attrName>
                                        </p:attrNameLst>
                                      </p:cBhvr>
                                      <p:to>
                                        <p:strVal val="visible"/>
                                      </p:to>
                                    </p:set>
                                    <p:animEffect transition="in" filter="fade">
                                      <p:cBhvr>
                                        <p:cTn id="89" dur="1000"/>
                                        <p:tgtEl>
                                          <p:spTgt spid="3">
                                            <p:txEl>
                                              <p:pRg st="11" end="11"/>
                                            </p:txEl>
                                          </p:spTgt>
                                        </p:tgtEl>
                                      </p:cBhvr>
                                    </p:animEffect>
                                    <p:anim calcmode="lin" valueType="num">
                                      <p:cBhvr>
                                        <p:cTn id="90"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91"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BBF810-A687-4150-AD18-A37F34B016E8}"/>
              </a:ext>
            </a:extLst>
          </p:cNvPr>
          <p:cNvSpPr txBox="1"/>
          <p:nvPr/>
        </p:nvSpPr>
        <p:spPr>
          <a:xfrm>
            <a:off x="948188" y="1322277"/>
            <a:ext cx="10295624" cy="1754326"/>
          </a:xfrm>
          <a:prstGeom prst="rect">
            <a:avLst/>
          </a:prstGeom>
          <a:noFill/>
        </p:spPr>
        <p:txBody>
          <a:bodyPr wrap="square" rtlCol="0">
            <a:spAutoFit/>
          </a:bodyPr>
          <a:lstStyle/>
          <a:p>
            <a:r>
              <a:rPr lang="fr-FR" sz="2400" b="1" dirty="0">
                <a:latin typeface="Tahoma" panose="020B0604030504040204" pitchFamily="34" charset="0"/>
                <a:ea typeface="Tahoma" panose="020B0604030504040204" pitchFamily="34" charset="0"/>
                <a:cs typeface="Tahoma" panose="020B0604030504040204" pitchFamily="34" charset="0"/>
              </a:rPr>
              <a:t>Convolution neural network (CNN):</a:t>
            </a:r>
            <a:r>
              <a:rPr lang="fr-FR" sz="2400" dirty="0">
                <a:latin typeface="Tahoma" panose="020B0604030504040204" pitchFamily="34" charset="0"/>
                <a:ea typeface="Tahoma" panose="020B0604030504040204" pitchFamily="34" charset="0"/>
                <a:cs typeface="Tahoma" panose="020B0604030504040204" pitchFamily="34" charset="0"/>
              </a:rPr>
              <a:t>plus performants pour la classification d'images. Définir une architecture de réseau de manière efficace en utilisant un volume 2D en deux dimensions(</a:t>
            </a:r>
            <a:r>
              <a:rPr lang="fr-FR" b="1" dirty="0"/>
              <a:t>Conv2D, MaxPooling2D</a:t>
            </a:r>
            <a:r>
              <a:rPr lang="fr-FR" dirty="0"/>
              <a:t>)</a:t>
            </a:r>
          </a:p>
          <a:p>
            <a:endParaRPr lang="fr-FR" dirty="0"/>
          </a:p>
        </p:txBody>
      </p:sp>
      <p:pic>
        <p:nvPicPr>
          <p:cNvPr id="9" name="Picture 8">
            <a:extLst>
              <a:ext uri="{FF2B5EF4-FFF2-40B4-BE49-F238E27FC236}">
                <a16:creationId xmlns:a16="http://schemas.microsoft.com/office/drawing/2014/main" id="{42C44910-6896-4C43-8DF6-CAE94AE1CC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803" y="3429000"/>
            <a:ext cx="10295623" cy="2567465"/>
          </a:xfrm>
          <a:prstGeom prst="rect">
            <a:avLst/>
          </a:prstGeom>
        </p:spPr>
      </p:pic>
    </p:spTree>
    <p:extLst>
      <p:ext uri="{BB962C8B-B14F-4D97-AF65-F5344CB8AC3E}">
        <p14:creationId xmlns:p14="http://schemas.microsoft.com/office/powerpoint/2010/main" val="1411649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circle(in)">
                                      <p:cBhvr>
                                        <p:cTn id="14"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838F1-5738-457C-8AEB-0207843DA26F}"/>
              </a:ext>
            </a:extLst>
          </p:cNvPr>
          <p:cNvSpPr>
            <a:spLocks noGrp="1"/>
          </p:cNvSpPr>
          <p:nvPr>
            <p:ph type="title"/>
          </p:nvPr>
        </p:nvSpPr>
        <p:spPr>
          <a:xfrm>
            <a:off x="646111" y="452718"/>
            <a:ext cx="10220672" cy="1084534"/>
          </a:xfrm>
        </p:spPr>
        <p:txBody>
          <a:bodyPr/>
          <a:lstStyle/>
          <a:p>
            <a:r>
              <a:rPr lang="fr-FR" b="1" dirty="0"/>
              <a:t>Résultat de Modèle CNN(Train)</a:t>
            </a:r>
          </a:p>
        </p:txBody>
      </p:sp>
      <p:pic>
        <p:nvPicPr>
          <p:cNvPr id="4" name="Content Placeholder 12">
            <a:extLst>
              <a:ext uri="{FF2B5EF4-FFF2-40B4-BE49-F238E27FC236}">
                <a16:creationId xmlns:a16="http://schemas.microsoft.com/office/drawing/2014/main" id="{F607D715-891B-466E-9E40-8E7BAD7C5D5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407" t="2310" r="10425" b="25182"/>
          <a:stretch/>
        </p:blipFill>
        <p:spPr>
          <a:xfrm>
            <a:off x="530087" y="1537251"/>
            <a:ext cx="10535478" cy="5075583"/>
          </a:xfrm>
        </p:spPr>
      </p:pic>
    </p:spTree>
    <p:extLst>
      <p:ext uri="{BB962C8B-B14F-4D97-AF65-F5344CB8AC3E}">
        <p14:creationId xmlns:p14="http://schemas.microsoft.com/office/powerpoint/2010/main" val="317093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2EA9DC-5B74-401A-A0AE-C6F258309C2D}"/>
              </a:ext>
            </a:extLst>
          </p:cNvPr>
          <p:cNvSpPr txBox="1"/>
          <p:nvPr/>
        </p:nvSpPr>
        <p:spPr>
          <a:xfrm>
            <a:off x="736515" y="1035727"/>
            <a:ext cx="10718970" cy="1107996"/>
          </a:xfrm>
          <a:prstGeom prst="rect">
            <a:avLst/>
          </a:prstGeom>
          <a:noFill/>
        </p:spPr>
        <p:txBody>
          <a:bodyPr wrap="square" rtlCol="0">
            <a:spAutoFit/>
          </a:bodyPr>
          <a:lstStyle/>
          <a:p>
            <a:r>
              <a:rPr lang="fr-FR" sz="2400" b="1" dirty="0" err="1">
                <a:latin typeface="Tahoma" panose="020B0604030504040204" pitchFamily="34" charset="0"/>
                <a:ea typeface="Tahoma" panose="020B0604030504040204" pitchFamily="34" charset="0"/>
                <a:cs typeface="Tahoma" panose="020B0604030504040204" pitchFamily="34" charset="0"/>
              </a:rPr>
              <a:t>CNN:</a:t>
            </a:r>
            <a:r>
              <a:rPr lang="fr-FR" sz="2400" dirty="0" err="1">
                <a:latin typeface="Tahoma" panose="020B0604030504040204" pitchFamily="34" charset="0"/>
                <a:ea typeface="Tahoma" panose="020B0604030504040204" pitchFamily="34" charset="0"/>
                <a:cs typeface="Tahoma" panose="020B0604030504040204" pitchFamily="34" charset="0"/>
              </a:rPr>
              <a:t>cette</a:t>
            </a:r>
            <a:r>
              <a:rPr lang="fr-FR" sz="2400" dirty="0">
                <a:latin typeface="Tahoma" panose="020B0604030504040204" pitchFamily="34" charset="0"/>
                <a:ea typeface="Tahoma" panose="020B0604030504040204" pitchFamily="34" charset="0"/>
                <a:cs typeface="Tahoma" panose="020B0604030504040204" pitchFamily="34" charset="0"/>
              </a:rPr>
              <a:t> architecture se concentre principalement sur la prédiction l’évaluation ,validation et test de la modèle CNN</a:t>
            </a:r>
          </a:p>
          <a:p>
            <a:endParaRPr lang="fr-FR" dirty="0"/>
          </a:p>
        </p:txBody>
      </p:sp>
      <p:pic>
        <p:nvPicPr>
          <p:cNvPr id="4" name="Picture 3">
            <a:extLst>
              <a:ext uri="{FF2B5EF4-FFF2-40B4-BE49-F238E27FC236}">
                <a16:creationId xmlns:a16="http://schemas.microsoft.com/office/drawing/2014/main" id="{2BDBEE8C-6368-4EE5-801F-B89BBB500A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514" y="2438399"/>
            <a:ext cx="10408563" cy="3882887"/>
          </a:xfrm>
          <a:prstGeom prst="rect">
            <a:avLst/>
          </a:prstGeom>
        </p:spPr>
      </p:pic>
    </p:spTree>
    <p:extLst>
      <p:ext uri="{BB962C8B-B14F-4D97-AF65-F5344CB8AC3E}">
        <p14:creationId xmlns:p14="http://schemas.microsoft.com/office/powerpoint/2010/main" val="1413005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6C6816-E417-4D8B-8A72-532349F35BEE}"/>
              </a:ext>
            </a:extLst>
          </p:cNvPr>
          <p:cNvSpPr txBox="1"/>
          <p:nvPr/>
        </p:nvSpPr>
        <p:spPr>
          <a:xfrm>
            <a:off x="1113183" y="357808"/>
            <a:ext cx="9223512" cy="707886"/>
          </a:xfrm>
          <a:prstGeom prst="rect">
            <a:avLst/>
          </a:prstGeom>
          <a:noFill/>
        </p:spPr>
        <p:txBody>
          <a:bodyPr wrap="square" rtlCol="0">
            <a:spAutoFit/>
          </a:bodyPr>
          <a:lstStyle/>
          <a:p>
            <a:pPr algn="ctr"/>
            <a:r>
              <a:rPr lang="fr-FR" sz="4000" b="1" dirty="0"/>
              <a:t>Training et Validation de CNN</a:t>
            </a:r>
          </a:p>
        </p:txBody>
      </p:sp>
      <p:pic>
        <p:nvPicPr>
          <p:cNvPr id="7" name="Content Placeholder 6">
            <a:extLst>
              <a:ext uri="{FF2B5EF4-FFF2-40B4-BE49-F238E27FC236}">
                <a16:creationId xmlns:a16="http://schemas.microsoft.com/office/drawing/2014/main" id="{6099FB86-028B-4466-96D7-77F78F94A79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7412" t="36705" r="5398" b="9649"/>
          <a:stretch/>
        </p:blipFill>
        <p:spPr>
          <a:xfrm>
            <a:off x="437322" y="1325216"/>
            <a:ext cx="10641495" cy="4923184"/>
          </a:xfrm>
        </p:spPr>
      </p:pic>
    </p:spTree>
    <p:extLst>
      <p:ext uri="{BB962C8B-B14F-4D97-AF65-F5344CB8AC3E}">
        <p14:creationId xmlns:p14="http://schemas.microsoft.com/office/powerpoint/2010/main" val="14853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5017E8-E775-4FE1-A0CA-E5CD5670FD17}"/>
              </a:ext>
            </a:extLst>
          </p:cNvPr>
          <p:cNvSpPr txBox="1"/>
          <p:nvPr/>
        </p:nvSpPr>
        <p:spPr>
          <a:xfrm>
            <a:off x="1424608" y="286650"/>
            <a:ext cx="8825948" cy="707886"/>
          </a:xfrm>
          <a:prstGeom prst="rect">
            <a:avLst/>
          </a:prstGeom>
          <a:noFill/>
        </p:spPr>
        <p:txBody>
          <a:bodyPr wrap="square" rtlCol="0">
            <a:spAutoFit/>
          </a:bodyPr>
          <a:lstStyle/>
          <a:p>
            <a:pPr algn="ctr"/>
            <a:r>
              <a:rPr lang="fr-FR" sz="4000" b="1" dirty="0"/>
              <a:t>Training, Validation et Test de CNN</a:t>
            </a:r>
          </a:p>
        </p:txBody>
      </p:sp>
      <p:pic>
        <p:nvPicPr>
          <p:cNvPr id="7" name="Content Placeholder 6">
            <a:extLst>
              <a:ext uri="{FF2B5EF4-FFF2-40B4-BE49-F238E27FC236}">
                <a16:creationId xmlns:a16="http://schemas.microsoft.com/office/drawing/2014/main" id="{31C40A39-EF01-489C-A5CD-057FA39F0556}"/>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7087" t="26600" r="5525" b="17440"/>
          <a:stretch/>
        </p:blipFill>
        <p:spPr>
          <a:xfrm>
            <a:off x="503583" y="1166191"/>
            <a:ext cx="10667999" cy="4929809"/>
          </a:xfrm>
        </p:spPr>
      </p:pic>
    </p:spTree>
    <p:extLst>
      <p:ext uri="{BB962C8B-B14F-4D97-AF65-F5344CB8AC3E}">
        <p14:creationId xmlns:p14="http://schemas.microsoft.com/office/powerpoint/2010/main" val="1167971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CD09C-12CA-4504-9B3C-C7EA059F75FF}"/>
              </a:ext>
            </a:extLst>
          </p:cNvPr>
          <p:cNvSpPr>
            <a:spLocks noGrp="1"/>
          </p:cNvSpPr>
          <p:nvPr>
            <p:ph type="title"/>
          </p:nvPr>
        </p:nvSpPr>
        <p:spPr>
          <a:xfrm>
            <a:off x="2372139" y="452718"/>
            <a:ext cx="6639339" cy="899004"/>
          </a:xfrm>
        </p:spPr>
        <p:txBody>
          <a:bodyPr/>
          <a:lstStyle/>
          <a:p>
            <a:pPr algn="ctr"/>
            <a:r>
              <a:rPr lang="fr-FR" b="1" dirty="0"/>
              <a:t>Training et Test de CNN</a:t>
            </a:r>
            <a:br>
              <a:rPr lang="fr-FR" b="1" dirty="0"/>
            </a:br>
            <a:endParaRPr lang="fr-FR" dirty="0"/>
          </a:p>
        </p:txBody>
      </p:sp>
      <p:pic>
        <p:nvPicPr>
          <p:cNvPr id="5" name="Content Placeholder 4">
            <a:extLst>
              <a:ext uri="{FF2B5EF4-FFF2-40B4-BE49-F238E27FC236}">
                <a16:creationId xmlns:a16="http://schemas.microsoft.com/office/drawing/2014/main" id="{F40C6BF8-FDD3-4B70-9524-72E797E0E4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5374" y="1444487"/>
            <a:ext cx="10296939" cy="4863547"/>
          </a:xfrm>
        </p:spPr>
      </p:pic>
    </p:spTree>
    <p:extLst>
      <p:ext uri="{BB962C8B-B14F-4D97-AF65-F5344CB8AC3E}">
        <p14:creationId xmlns:p14="http://schemas.microsoft.com/office/powerpoint/2010/main" val="626435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34E6B5-DB94-481B-8E51-0079C8D6F12B}"/>
              </a:ext>
            </a:extLst>
          </p:cNvPr>
          <p:cNvSpPr txBox="1"/>
          <p:nvPr/>
        </p:nvSpPr>
        <p:spPr>
          <a:xfrm>
            <a:off x="2729948" y="517040"/>
            <a:ext cx="5976730" cy="461665"/>
          </a:xfrm>
          <a:prstGeom prst="rect">
            <a:avLst/>
          </a:prstGeom>
          <a:noFill/>
        </p:spPr>
        <p:txBody>
          <a:bodyPr wrap="square" rtlCol="0">
            <a:spAutoFit/>
          </a:bodyPr>
          <a:lstStyle/>
          <a:p>
            <a:pPr algn="ctr"/>
            <a:r>
              <a:rPr lang="fr-FR" sz="2400" b="1" dirty="0"/>
              <a:t>Confusion matrix  de Modèle CNN</a:t>
            </a:r>
          </a:p>
        </p:txBody>
      </p:sp>
      <p:pic>
        <p:nvPicPr>
          <p:cNvPr id="7" name="Content Placeholder 6">
            <a:extLst>
              <a:ext uri="{FF2B5EF4-FFF2-40B4-BE49-F238E27FC236}">
                <a16:creationId xmlns:a16="http://schemas.microsoft.com/office/drawing/2014/main" id="{E1EDB184-4B9F-4AE7-9F22-7EC425EB84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5704" y="1205948"/>
            <a:ext cx="9899373" cy="5154993"/>
          </a:xfrm>
        </p:spPr>
      </p:pic>
    </p:spTree>
    <p:extLst>
      <p:ext uri="{BB962C8B-B14F-4D97-AF65-F5344CB8AC3E}">
        <p14:creationId xmlns:p14="http://schemas.microsoft.com/office/powerpoint/2010/main" val="1167766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2EA9DC-5B74-401A-A0AE-C6F258309C2D}"/>
              </a:ext>
            </a:extLst>
          </p:cNvPr>
          <p:cNvSpPr txBox="1"/>
          <p:nvPr/>
        </p:nvSpPr>
        <p:spPr>
          <a:xfrm>
            <a:off x="736515" y="1035727"/>
            <a:ext cx="10718970" cy="1107996"/>
          </a:xfrm>
          <a:prstGeom prst="rect">
            <a:avLst/>
          </a:prstGeom>
          <a:noFill/>
        </p:spPr>
        <p:txBody>
          <a:bodyPr wrap="square" rtlCol="0">
            <a:spAutoFit/>
          </a:bodyPr>
          <a:lstStyle/>
          <a:p>
            <a:r>
              <a:rPr lang="fr-FR" sz="2400" b="1" dirty="0">
                <a:latin typeface="Tahoma" panose="020B0604030504040204" pitchFamily="34" charset="0"/>
                <a:ea typeface="Tahoma" panose="020B0604030504040204" pitchFamily="34" charset="0"/>
                <a:cs typeface="Tahoma" panose="020B0604030504040204" pitchFamily="34" charset="0"/>
              </a:rPr>
              <a:t>SVM :</a:t>
            </a:r>
            <a:r>
              <a:rPr lang="fr-FR" sz="2400" dirty="0">
                <a:latin typeface="Tahoma" panose="020B0604030504040204" pitchFamily="34" charset="0"/>
                <a:ea typeface="Tahoma" panose="020B0604030504040204" pitchFamily="34" charset="0"/>
                <a:cs typeface="Tahoma" panose="020B0604030504040204" pitchFamily="34" charset="0"/>
              </a:rPr>
              <a:t>cette architecture se concentre principalement sur la prédiction de la modèle SVM(</a:t>
            </a:r>
            <a:r>
              <a:rPr lang="fr-FR" sz="2400" dirty="0" err="1">
                <a:latin typeface="Tahoma" panose="020B0604030504040204" pitchFamily="34" charset="0"/>
                <a:ea typeface="Tahoma" panose="020B0604030504040204" pitchFamily="34" charset="0"/>
                <a:cs typeface="Tahoma" panose="020B0604030504040204" pitchFamily="34" charset="0"/>
              </a:rPr>
              <a:t>accuracy</a:t>
            </a:r>
            <a:r>
              <a:rPr lang="fr-FR" sz="2400" dirty="0">
                <a:latin typeface="Tahoma" panose="020B0604030504040204" pitchFamily="34" charset="0"/>
                <a:ea typeface="Tahoma" panose="020B0604030504040204" pitchFamily="34" charset="0"/>
                <a:cs typeface="Tahoma" panose="020B0604030504040204" pitchFamily="34" charset="0"/>
              </a:rPr>
              <a:t>)</a:t>
            </a:r>
          </a:p>
          <a:p>
            <a:endParaRPr lang="fr-FR" dirty="0"/>
          </a:p>
        </p:txBody>
      </p:sp>
      <p:pic>
        <p:nvPicPr>
          <p:cNvPr id="7" name="Content Placeholder 6">
            <a:extLst>
              <a:ext uri="{FF2B5EF4-FFF2-40B4-BE49-F238E27FC236}">
                <a16:creationId xmlns:a16="http://schemas.microsoft.com/office/drawing/2014/main" id="{C3192309-333E-48FA-9CE6-A0AF1E95A1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9113" y="2385391"/>
            <a:ext cx="11087995" cy="4097296"/>
          </a:xfrm>
        </p:spPr>
      </p:pic>
    </p:spTree>
    <p:extLst>
      <p:ext uri="{BB962C8B-B14F-4D97-AF65-F5344CB8AC3E}">
        <p14:creationId xmlns:p14="http://schemas.microsoft.com/office/powerpoint/2010/main" val="1255647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83C60-011F-4E04-B33F-CA161734C241}"/>
              </a:ext>
            </a:extLst>
          </p:cNvPr>
          <p:cNvSpPr>
            <a:spLocks noGrp="1"/>
          </p:cNvSpPr>
          <p:nvPr>
            <p:ph type="title"/>
          </p:nvPr>
        </p:nvSpPr>
        <p:spPr>
          <a:xfrm>
            <a:off x="1815549" y="399710"/>
            <a:ext cx="8235286" cy="647212"/>
          </a:xfrm>
        </p:spPr>
        <p:txBody>
          <a:bodyPr/>
          <a:lstStyle/>
          <a:p>
            <a:pPr algn="ctr"/>
            <a:r>
              <a:rPr lang="fr-FR" b="1" dirty="0"/>
              <a:t>Confusion matrix Model SVM</a:t>
            </a:r>
            <a:br>
              <a:rPr lang="fr-FR" b="1" dirty="0"/>
            </a:br>
            <a:endParaRPr lang="fr-FR" dirty="0"/>
          </a:p>
        </p:txBody>
      </p:sp>
      <p:pic>
        <p:nvPicPr>
          <p:cNvPr id="5" name="Content Placeholder 4">
            <a:extLst>
              <a:ext uri="{FF2B5EF4-FFF2-40B4-BE49-F238E27FC236}">
                <a16:creationId xmlns:a16="http://schemas.microsoft.com/office/drawing/2014/main" id="{B43FDB40-522A-4EA3-9C0B-C551B0E468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6111" y="1537252"/>
            <a:ext cx="10419454" cy="4722256"/>
          </a:xfrm>
        </p:spPr>
      </p:pic>
      <p:pic>
        <p:nvPicPr>
          <p:cNvPr id="7" name="Picture 6">
            <a:extLst>
              <a:ext uri="{FF2B5EF4-FFF2-40B4-BE49-F238E27FC236}">
                <a16:creationId xmlns:a16="http://schemas.microsoft.com/office/drawing/2014/main" id="{9653D3BA-40E7-4C85-8F2F-F1198DF8B3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1009" y="6259508"/>
            <a:ext cx="5579165" cy="457264"/>
          </a:xfrm>
          <a:prstGeom prst="rect">
            <a:avLst/>
          </a:prstGeom>
        </p:spPr>
      </p:pic>
    </p:spTree>
    <p:extLst>
      <p:ext uri="{BB962C8B-B14F-4D97-AF65-F5344CB8AC3E}">
        <p14:creationId xmlns:p14="http://schemas.microsoft.com/office/powerpoint/2010/main" val="4101025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par>
                                <p:cTn id="13" presetID="16" presetClass="entr" presetSubtype="2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arn(inVertical)">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90BAB8-0747-4EDF-A295-6B4F6B01F506}"/>
              </a:ext>
            </a:extLst>
          </p:cNvPr>
          <p:cNvSpPr txBox="1"/>
          <p:nvPr/>
        </p:nvSpPr>
        <p:spPr>
          <a:xfrm>
            <a:off x="1103312" y="714394"/>
            <a:ext cx="2685684" cy="523220"/>
          </a:xfrm>
          <a:prstGeom prst="rect">
            <a:avLst/>
          </a:prstGeom>
          <a:noFill/>
        </p:spPr>
        <p:txBody>
          <a:bodyPr wrap="square" rtlCol="0">
            <a:spAutoFit/>
          </a:bodyPr>
          <a:lstStyle/>
          <a:p>
            <a:pPr algn="ctr"/>
            <a:r>
              <a:rPr lang="fr-FR" sz="2800" b="1" dirty="0"/>
              <a:t>Rapport SVM</a:t>
            </a:r>
          </a:p>
        </p:txBody>
      </p:sp>
      <p:sp>
        <p:nvSpPr>
          <p:cNvPr id="6" name="TextBox 5">
            <a:extLst>
              <a:ext uri="{FF2B5EF4-FFF2-40B4-BE49-F238E27FC236}">
                <a16:creationId xmlns:a16="http://schemas.microsoft.com/office/drawing/2014/main" id="{6AF55941-11D0-41FD-B28A-62537CB0C7D4}"/>
              </a:ext>
            </a:extLst>
          </p:cNvPr>
          <p:cNvSpPr txBox="1"/>
          <p:nvPr/>
        </p:nvSpPr>
        <p:spPr>
          <a:xfrm>
            <a:off x="7846414" y="815304"/>
            <a:ext cx="2685684" cy="523220"/>
          </a:xfrm>
          <a:prstGeom prst="rect">
            <a:avLst/>
          </a:prstGeom>
          <a:noFill/>
        </p:spPr>
        <p:txBody>
          <a:bodyPr wrap="square" rtlCol="0">
            <a:spAutoFit/>
          </a:bodyPr>
          <a:lstStyle/>
          <a:p>
            <a:pPr algn="ctr"/>
            <a:r>
              <a:rPr lang="fr-FR" sz="2800" b="1" dirty="0"/>
              <a:t>Rapport CNN</a:t>
            </a:r>
            <a:endParaRPr lang="fr-FR" sz="2800" dirty="0"/>
          </a:p>
        </p:txBody>
      </p:sp>
      <p:sp>
        <p:nvSpPr>
          <p:cNvPr id="7" name="TextBox 6">
            <a:extLst>
              <a:ext uri="{FF2B5EF4-FFF2-40B4-BE49-F238E27FC236}">
                <a16:creationId xmlns:a16="http://schemas.microsoft.com/office/drawing/2014/main" id="{EF612B7C-350F-40C6-B06B-8D2549A9FD2C}"/>
              </a:ext>
            </a:extLst>
          </p:cNvPr>
          <p:cNvSpPr txBox="1"/>
          <p:nvPr/>
        </p:nvSpPr>
        <p:spPr>
          <a:xfrm>
            <a:off x="1577009" y="0"/>
            <a:ext cx="7918175" cy="523220"/>
          </a:xfrm>
          <a:prstGeom prst="rect">
            <a:avLst/>
          </a:prstGeom>
          <a:noFill/>
        </p:spPr>
        <p:txBody>
          <a:bodyPr wrap="square" rtlCol="0">
            <a:spAutoFit/>
          </a:bodyPr>
          <a:lstStyle/>
          <a:p>
            <a:r>
              <a:rPr lang="fr-FR" sz="2800" b="1" dirty="0"/>
              <a:t>Comparaison prédiction entre SVM et CNN</a:t>
            </a:r>
          </a:p>
        </p:txBody>
      </p:sp>
      <p:pic>
        <p:nvPicPr>
          <p:cNvPr id="8" name="Content Placeholder 4">
            <a:extLst>
              <a:ext uri="{FF2B5EF4-FFF2-40B4-BE49-F238E27FC236}">
                <a16:creationId xmlns:a16="http://schemas.microsoft.com/office/drawing/2014/main" id="{03BC6D68-6250-488B-A125-697327D7807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9348"/>
          <a:stretch/>
        </p:blipFill>
        <p:spPr>
          <a:xfrm>
            <a:off x="172280" y="2600010"/>
            <a:ext cx="5486400" cy="4198358"/>
          </a:xfrm>
        </p:spPr>
      </p:pic>
      <p:pic>
        <p:nvPicPr>
          <p:cNvPr id="9" name="Content Placeholder 11">
            <a:extLst>
              <a:ext uri="{FF2B5EF4-FFF2-40B4-BE49-F238E27FC236}">
                <a16:creationId xmlns:a16="http://schemas.microsoft.com/office/drawing/2014/main" id="{2CC8985B-5737-4B6A-AAA9-FEA59C117D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7704" y="1630018"/>
            <a:ext cx="6202016" cy="5227982"/>
          </a:xfrm>
          <a:prstGeom prst="rect">
            <a:avLst/>
          </a:prstGeom>
        </p:spPr>
      </p:pic>
      <p:pic>
        <p:nvPicPr>
          <p:cNvPr id="10" name="Picture 9">
            <a:extLst>
              <a:ext uri="{FF2B5EF4-FFF2-40B4-BE49-F238E27FC236}">
                <a16:creationId xmlns:a16="http://schemas.microsoft.com/office/drawing/2014/main" id="{802C822C-7A83-4C39-BADD-625682E8F6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280" y="1625972"/>
            <a:ext cx="5486400" cy="974038"/>
          </a:xfrm>
          <a:prstGeom prst="rect">
            <a:avLst/>
          </a:prstGeom>
        </p:spPr>
      </p:pic>
    </p:spTree>
    <p:extLst>
      <p:ext uri="{BB962C8B-B14F-4D97-AF65-F5344CB8AC3E}">
        <p14:creationId xmlns:p14="http://schemas.microsoft.com/office/powerpoint/2010/main" val="4254060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par>
                                <p:cTn id="20" presetID="16" presetClass="entr" presetSubtype="21"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inVertic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circle(in)">
                                      <p:cBhvr>
                                        <p:cTn id="27" dur="20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108FF88-0206-44F4-B36A-7AF9E3FBD31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7330"/>
          <a:stretch/>
        </p:blipFill>
        <p:spPr>
          <a:xfrm>
            <a:off x="583096" y="1192696"/>
            <a:ext cx="11171582" cy="5426715"/>
          </a:xfrm>
        </p:spPr>
      </p:pic>
      <p:sp>
        <p:nvSpPr>
          <p:cNvPr id="5" name="TextBox 4">
            <a:extLst>
              <a:ext uri="{FF2B5EF4-FFF2-40B4-BE49-F238E27FC236}">
                <a16:creationId xmlns:a16="http://schemas.microsoft.com/office/drawing/2014/main" id="{420319FE-993F-4E68-9B17-A04455FBCC33}"/>
              </a:ext>
            </a:extLst>
          </p:cNvPr>
          <p:cNvSpPr txBox="1"/>
          <p:nvPr/>
        </p:nvSpPr>
        <p:spPr>
          <a:xfrm>
            <a:off x="795131" y="238589"/>
            <a:ext cx="9409044" cy="954107"/>
          </a:xfrm>
          <a:prstGeom prst="rect">
            <a:avLst/>
          </a:prstGeom>
          <a:noFill/>
        </p:spPr>
        <p:txBody>
          <a:bodyPr wrap="square" rtlCol="0">
            <a:spAutoFit/>
          </a:bodyPr>
          <a:lstStyle/>
          <a:p>
            <a:pPr algn="ctr"/>
            <a:r>
              <a:rPr lang="fr-FR" sz="2800" b="1" dirty="0"/>
              <a:t>Résultat de prédiction(prédiction est compatible avec vrai réel </a:t>
            </a:r>
          </a:p>
        </p:txBody>
      </p:sp>
    </p:spTree>
    <p:extLst>
      <p:ext uri="{BB962C8B-B14F-4D97-AF65-F5344CB8AC3E}">
        <p14:creationId xmlns:p14="http://schemas.microsoft.com/office/powerpoint/2010/main" val="3412074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09ACE-0C4E-4939-8202-095064853AEE}"/>
              </a:ext>
            </a:extLst>
          </p:cNvPr>
          <p:cNvSpPr>
            <a:spLocks noGrp="1"/>
          </p:cNvSpPr>
          <p:nvPr>
            <p:ph type="title"/>
          </p:nvPr>
        </p:nvSpPr>
        <p:spPr>
          <a:xfrm>
            <a:off x="646111" y="702365"/>
            <a:ext cx="9404723" cy="808384"/>
          </a:xfrm>
        </p:spPr>
        <p:txBody>
          <a:bodyPr/>
          <a:lstStyle/>
          <a:p>
            <a:r>
              <a:rPr lang="fr-FR" b="1" dirty="0"/>
              <a:t>Conclusion</a:t>
            </a:r>
          </a:p>
        </p:txBody>
      </p:sp>
      <p:sp>
        <p:nvSpPr>
          <p:cNvPr id="3" name="Content Placeholder 2">
            <a:extLst>
              <a:ext uri="{FF2B5EF4-FFF2-40B4-BE49-F238E27FC236}">
                <a16:creationId xmlns:a16="http://schemas.microsoft.com/office/drawing/2014/main" id="{503657E9-82F1-4CC9-8C1D-6FC8710DDFED}"/>
              </a:ext>
            </a:extLst>
          </p:cNvPr>
          <p:cNvSpPr>
            <a:spLocks noGrp="1"/>
          </p:cNvSpPr>
          <p:nvPr>
            <p:ph idx="1"/>
          </p:nvPr>
        </p:nvSpPr>
        <p:spPr>
          <a:xfrm>
            <a:off x="1408112" y="2887805"/>
            <a:ext cx="9233384" cy="1803465"/>
          </a:xfrm>
        </p:spPr>
        <p:txBody>
          <a:bodyPr/>
          <a:lstStyle/>
          <a:p>
            <a:r>
              <a:rPr lang="fr-FR" b="1" dirty="0"/>
              <a:t>On l’appliqué deux modèles: d’apprentissage profond et d’apprentissage automatique de pointe sur un ensemble de données AD et a révélé que SVM obtenait de précision : 95 % pour tous les ensembles de données collectés et que le modèle CNN a obtenait de précision une précision de 96 %</a:t>
            </a:r>
          </a:p>
        </p:txBody>
      </p:sp>
    </p:spTree>
    <p:extLst>
      <p:ext uri="{BB962C8B-B14F-4D97-AF65-F5344CB8AC3E}">
        <p14:creationId xmlns:p14="http://schemas.microsoft.com/office/powerpoint/2010/main" val="2321563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E69F445-6A92-439A-8504-FBDAB6560F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3" name="Content Placeholder 2">
            <a:extLst>
              <a:ext uri="{FF2B5EF4-FFF2-40B4-BE49-F238E27FC236}">
                <a16:creationId xmlns:a16="http://schemas.microsoft.com/office/drawing/2014/main" id="{4C6723E8-B610-4253-A41A-80F27ABDAEDA}"/>
              </a:ext>
            </a:extLst>
          </p:cNvPr>
          <p:cNvSpPr>
            <a:spLocks noGrp="1"/>
          </p:cNvSpPr>
          <p:nvPr>
            <p:ph idx="1"/>
          </p:nvPr>
        </p:nvSpPr>
        <p:spPr>
          <a:xfrm>
            <a:off x="1037867" y="2064026"/>
            <a:ext cx="8946541" cy="1992609"/>
          </a:xfrm>
        </p:spPr>
        <p:txBody>
          <a:bodyPr>
            <a:normAutofit/>
          </a:bodyPr>
          <a:lstStyle/>
          <a:p>
            <a:pPr marL="0" indent="0" algn="ctr">
              <a:buNone/>
            </a:pPr>
            <a:r>
              <a:rPr lang="fr-FR" sz="9600" dirty="0"/>
              <a:t>Merci</a:t>
            </a:r>
          </a:p>
        </p:txBody>
      </p:sp>
    </p:spTree>
    <p:extLst>
      <p:ext uri="{BB962C8B-B14F-4D97-AF65-F5344CB8AC3E}">
        <p14:creationId xmlns:p14="http://schemas.microsoft.com/office/powerpoint/2010/main" val="131050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3">
                                            <p:txEl>
                                              <p:pRg st="0" end="0"/>
                                            </p:txEl>
                                          </p:spTgt>
                                        </p:tgtEl>
                                        <p:attrNameLst>
                                          <p:attrName>style.color</p:attrName>
                                        </p:attrNameLst>
                                      </p:cBhvr>
                                      <p:to>
                                        <a:schemeClr val="accent2"/>
                                      </p:to>
                                    </p:animClr>
                                    <p:animClr clrSpc="rgb" dir="cw">
                                      <p:cBhvr>
                                        <p:cTn id="7" dur="500" fill="hold"/>
                                        <p:tgtEl>
                                          <p:spTgt spid="3">
                                            <p:txEl>
                                              <p:pRg st="0" end="0"/>
                                            </p:txEl>
                                          </p:spTgt>
                                        </p:tgtEl>
                                        <p:attrNameLst>
                                          <p:attrName>fillcolor</p:attrName>
                                        </p:attrNameLst>
                                      </p:cBhvr>
                                      <p:to>
                                        <a:schemeClr val="accent2"/>
                                      </p:to>
                                    </p:animClr>
                                    <p:set>
                                      <p:cBhvr>
                                        <p:cTn id="8" dur="500" fill="hold"/>
                                        <p:tgtEl>
                                          <p:spTgt spid="3">
                                            <p:txEl>
                                              <p:pRg st="0" end="0"/>
                                            </p:txEl>
                                          </p:spTgt>
                                        </p:tgtEl>
                                        <p:attrNameLst>
                                          <p:attrName>fill.type</p:attrName>
                                        </p:attrNameLst>
                                      </p:cBhvr>
                                      <p:to>
                                        <p:strVal val="solid"/>
                                      </p:to>
                                    </p:set>
                                    <p:set>
                                      <p:cBhvr>
                                        <p:cTn id="9" dur="500" fill="hold"/>
                                        <p:tgtEl>
                                          <p:spTgt spid="3">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2644</TotalTime>
  <Words>1600</Words>
  <Application>Microsoft Office PowerPoint</Application>
  <PresentationFormat>Widescreen</PresentationFormat>
  <Paragraphs>168</Paragraphs>
  <Slides>40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Century Gothic</vt:lpstr>
      <vt:lpstr>Helvetica</vt:lpstr>
      <vt:lpstr>inherit</vt:lpstr>
      <vt:lpstr>Tahoma</vt:lpstr>
      <vt:lpstr>Wingdings 3</vt:lpstr>
      <vt:lpstr>Ion</vt:lpstr>
      <vt:lpstr>Sujet : Détection des différents stades de la maladie d’Alzheimer CNN et SVM </vt:lpstr>
      <vt:lpstr>Détection des différents stades de la maladie d’Alzheimer  à l'aide des CNN et ANN pour l’extraction des features et le SVM, le KNN et le RF pour la classification</vt:lpstr>
      <vt:lpstr>PowerPoint Presentation</vt:lpstr>
      <vt:lpstr>PowerPoint Presentation</vt:lpstr>
      <vt:lpstr>Etude comparative des algorithmes  </vt:lpstr>
      <vt:lpstr>Définir les objectifs  </vt:lpstr>
      <vt:lpstr>Les algorithmes d’apprentissage profond et Classification </vt:lpstr>
      <vt:lpstr>Préparation des données </vt:lpstr>
      <vt:lpstr>Comparaison des  résultats des algorithmes  (CNN et ANN) lors de l’extraction des features</vt:lpstr>
      <vt:lpstr>Comparaison des  résultats des algorithmes KNN,SVM et RF</vt:lpstr>
      <vt:lpstr>PowerPoint Presentation</vt:lpstr>
      <vt:lpstr>PowerPoint Presentation</vt:lpstr>
      <vt:lpstr>PowerPoint Presentation</vt:lpstr>
      <vt:lpstr>PowerPoint Presentation</vt:lpstr>
      <vt:lpstr>PowerPoint Presentation</vt:lpstr>
      <vt:lpstr>Problèmes abordée de l’algorithme</vt:lpstr>
      <vt:lpstr>PowerPoint Presentation</vt:lpstr>
      <vt:lpstr>PowerPoint Presentation</vt:lpstr>
      <vt:lpstr>Etat de l’art de Problèmes de l’Algorithme</vt:lpstr>
      <vt:lpstr>PowerPoint Presentation</vt:lpstr>
      <vt:lpstr>PowerPoint Presentation</vt:lpstr>
      <vt:lpstr>PowerPoint Presentation</vt:lpstr>
      <vt:lpstr>Approche contribution de l’algorithme</vt:lpstr>
      <vt:lpstr>PowerPoint Presentation</vt:lpstr>
      <vt:lpstr>Résultat et simulation de l’algorithme  </vt:lpstr>
      <vt:lpstr>Dans cet Article on utilise: </vt:lpstr>
      <vt:lpstr>PowerPoint Presentation</vt:lpstr>
      <vt:lpstr>PowerPoint Presentation</vt:lpstr>
      <vt:lpstr>Résultat de Modèle CNN(Train)</vt:lpstr>
      <vt:lpstr>PowerPoint Presentation</vt:lpstr>
      <vt:lpstr>PowerPoint Presentation</vt:lpstr>
      <vt:lpstr>PowerPoint Presentation</vt:lpstr>
      <vt:lpstr>Training et Test de CNN </vt:lpstr>
      <vt:lpstr>PowerPoint Presentation</vt:lpstr>
      <vt:lpstr>PowerPoint Presentation</vt:lpstr>
      <vt:lpstr>Confusion matrix Model SVM </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484</cp:revision>
  <dcterms:created xsi:type="dcterms:W3CDTF">2023-11-02T14:24:24Z</dcterms:created>
  <dcterms:modified xsi:type="dcterms:W3CDTF">2023-11-19T15:30:18Z</dcterms:modified>
</cp:coreProperties>
</file>